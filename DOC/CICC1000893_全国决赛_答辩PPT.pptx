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283" r:id="rId4"/>
    <p:sldId id="260" r:id="rId5"/>
    <p:sldId id="267" r:id="rId6"/>
    <p:sldId id="285" r:id="rId7"/>
    <p:sldId id="261" r:id="rId8"/>
    <p:sldId id="271" r:id="rId9"/>
    <p:sldId id="292" r:id="rId10"/>
    <p:sldId id="293" r:id="rId11"/>
    <p:sldId id="294" r:id="rId12"/>
    <p:sldId id="295" r:id="rId13"/>
    <p:sldId id="296" r:id="rId14"/>
    <p:sldId id="278" r:id="rId15"/>
    <p:sldId id="268" r:id="rId16"/>
    <p:sldId id="288" r:id="rId17"/>
    <p:sldId id="290" r:id="rId18"/>
    <p:sldId id="289" r:id="rId19"/>
    <p:sldId id="262" r:id="rId20"/>
    <p:sldId id="264" r:id="rId21"/>
    <p:sldId id="265" r:id="rId22"/>
    <p:sldId id="297" r:id="rId23"/>
    <p:sldId id="263" r:id="rId24"/>
    <p:sldId id="270" r:id="rId25"/>
    <p:sldId id="298" r:id="rId26"/>
    <p:sldId id="300" r:id="rId27"/>
    <p:sldId id="281" r:id="rId28"/>
  </p:sldIdLst>
  <p:sldSz cx="12192000" cy="6858000"/>
  <p:notesSz cx="6858000" cy="9144000"/>
  <p:embeddedFontLst>
    <p:embeddedFont>
      <p:font typeface="Alimama ShuHeiTi Bold" charset="-122"/>
      <p:regular r:id="rId30"/>
    </p:embeddedFont>
    <p:embeddedFont>
      <p:font typeface="HarmonyOS Sans SC Medium" panose="00000600000000000000" pitchFamily="2" charset="-122"/>
      <p:regular r:id="rId31"/>
    </p:embeddedFont>
    <p:embeddedFont>
      <p:font typeface="微软雅黑" panose="020B0503020204020204" pitchFamily="34" charset="-122"/>
      <p:regular r:id="rId32"/>
      <p:bold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142DA8"/>
    <a:srgbClr val="333333"/>
    <a:srgbClr val="FFFFFF"/>
    <a:srgbClr val="7399E5"/>
    <a:srgbClr val="E3E3E3"/>
    <a:srgbClr val="FF1A29"/>
    <a:srgbClr val="FFDD99"/>
    <a:srgbClr val="FFBB33"/>
    <a:srgbClr val="004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40" y="108"/>
      </p:cViewPr>
      <p:guideLst>
        <p:guide orient="horz" pos="2170"/>
        <p:guide pos="3840"/>
        <p:guide orient="horz" pos="25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png"/><Relationship Id="rId5" Type="http://schemas.openxmlformats.org/officeDocument/2006/relationships/tags" Target="../tags/tag68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image" Target="../media/image4.png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18" Type="http://schemas.openxmlformats.org/officeDocument/2006/relationships/tags" Target="../tags/tag124.xml"/><Relationship Id="rId26" Type="http://schemas.openxmlformats.org/officeDocument/2006/relationships/image" Target="../media/image8.png"/><Relationship Id="rId3" Type="http://schemas.openxmlformats.org/officeDocument/2006/relationships/tags" Target="../tags/tag109.xml"/><Relationship Id="rId21" Type="http://schemas.openxmlformats.org/officeDocument/2006/relationships/tags" Target="../tags/tag127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5" Type="http://schemas.openxmlformats.org/officeDocument/2006/relationships/image" Target="../media/image4.png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20" Type="http://schemas.openxmlformats.org/officeDocument/2006/relationships/tags" Target="../tags/tag126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24" Type="http://schemas.openxmlformats.org/officeDocument/2006/relationships/image" Target="../media/image3.png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116.xml"/><Relationship Id="rId19" Type="http://schemas.openxmlformats.org/officeDocument/2006/relationships/tags" Target="../tags/tag125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Relationship Id="rId22" Type="http://schemas.openxmlformats.org/officeDocument/2006/relationships/tags" Target="../tags/tag128.xml"/><Relationship Id="rId27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9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4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6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8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23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tags" Target="../tags/tag163.xml"/><Relationship Id="rId18" Type="http://schemas.openxmlformats.org/officeDocument/2006/relationships/image" Target="../media/image4.png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image" Target="../media/image3.png"/><Relationship Id="rId2" Type="http://schemas.openxmlformats.org/officeDocument/2006/relationships/tags" Target="../tags/tag15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5" Type="http://schemas.openxmlformats.org/officeDocument/2006/relationships/tags" Target="../tags/tag155.xml"/><Relationship Id="rId15" Type="http://schemas.openxmlformats.org/officeDocument/2006/relationships/tags" Target="../tags/tag165.xml"/><Relationship Id="rId10" Type="http://schemas.openxmlformats.org/officeDocument/2006/relationships/tags" Target="../tags/tag160.xml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6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7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2520000"/>
            <a:ext cx="10439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第十届全国大学生集成电路创新创业大赛</a:t>
            </a: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000" y="1080000"/>
            <a:ext cx="1296000" cy="129600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296000" y="3420000"/>
            <a:ext cx="3600000" cy="540000"/>
          </a:xfrm>
          <a:prstGeom prst="roundRect">
            <a:avLst>
              <a:gd name="adj" fmla="val 15518"/>
            </a:avLst>
          </a:prstGeom>
          <a:solidFill>
            <a:schemeClr val="bg1"/>
          </a:solidFill>
          <a:ln w="25400">
            <a:solidFill>
              <a:srgbClr val="142DA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tIns="144145"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18965" y="3420110"/>
            <a:ext cx="33540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“</a:t>
            </a:r>
            <a:r>
              <a:rPr lang="zh-CN" altLang="en-US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紫光同创</a:t>
            </a:r>
            <a:r>
              <a:rPr lang="en-US" altLang="zh-CN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”</a:t>
            </a:r>
            <a:r>
              <a:rPr lang="zh-CN" altLang="en-US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命题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4368800" y="5039995"/>
            <a:ext cx="3404235" cy="360045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CICC1000893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0000" y="432000"/>
            <a:ext cx="1260000" cy="57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目录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198029" y="1528396"/>
            <a:ext cx="540000" cy="54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198029" y="2608396"/>
            <a:ext cx="540000" cy="54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4198029" y="3688396"/>
            <a:ext cx="540000" cy="54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4198029" y="4768396"/>
            <a:ext cx="540000" cy="540000"/>
          </a:xfrm>
          <a:prstGeom prst="rect">
            <a:avLst/>
          </a:prstGeom>
          <a:solidFill>
            <a:srgbClr val="9545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98099" y="15286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+mj-ea"/>
                <a:ea typeface="+mj-ea"/>
              </a:rPr>
              <a:t>实现方案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09625" y="1104265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1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CONTENTS</a:t>
            </a: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5098734" y="26081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重点创新</a:t>
            </a: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5099369" y="36876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指标一览</a:t>
            </a: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5100004" y="47671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价值成果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8363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77" y="-275841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420110" y="720090"/>
            <a:ext cx="5351780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dirty="0">
                <a:latin typeface="HarmonyOS Sans SC Black" panose="00000A00000000000000" charset="-122"/>
                <a:ea typeface="HarmonyOS Sans SC Black" panose="00000A00000000000000" charset="-122"/>
              </a:rPr>
              <a:t>作品重要亮点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AD3677-2617-4D23-945F-668329D227E8}"/>
              </a:ext>
            </a:extLst>
          </p:cNvPr>
          <p:cNvSpPr/>
          <p:nvPr/>
        </p:nvSpPr>
        <p:spPr>
          <a:xfrm>
            <a:off x="4072139" y="1722496"/>
            <a:ext cx="3790950" cy="444675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rgbClr val="0AD7EE">
                    <a:alpha val="0"/>
                  </a:srgbClr>
                </a:gs>
                <a:gs pos="100000">
                  <a:srgbClr val="0AD7EE"/>
                </a:gs>
              </a:gsLst>
              <a:lin ang="54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395AA00-3B01-49B9-8544-9717F6FA8948}"/>
              </a:ext>
            </a:extLst>
          </p:cNvPr>
          <p:cNvGrpSpPr/>
          <p:nvPr/>
        </p:nvGrpSpPr>
        <p:grpSpPr>
          <a:xfrm>
            <a:off x="4133629" y="1722495"/>
            <a:ext cx="3648076" cy="491963"/>
            <a:chOff x="4167187" y="1534481"/>
            <a:chExt cx="3648076" cy="491963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0CBBFCA-8B73-4643-847C-20580F63CAFE}"/>
                </a:ext>
              </a:extLst>
            </p:cNvPr>
            <p:cNvGrpSpPr/>
            <p:nvPr/>
          </p:nvGrpSpPr>
          <p:grpSpPr>
            <a:xfrm>
              <a:off x="4167187" y="1534481"/>
              <a:ext cx="3648076" cy="491963"/>
              <a:chOff x="4095749" y="1790715"/>
              <a:chExt cx="3743325" cy="358140"/>
            </a:xfrm>
          </p:grpSpPr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47AE1547-1DA1-42AC-BD54-93177692751F}"/>
                  </a:ext>
                </a:extLst>
              </p:cNvPr>
              <p:cNvSpPr/>
              <p:nvPr/>
            </p:nvSpPr>
            <p:spPr>
              <a:xfrm>
                <a:off x="4095749" y="1790715"/>
                <a:ext cx="3743325" cy="358140"/>
              </a:xfrm>
              <a:prstGeom prst="parallelogram">
                <a:avLst/>
              </a:prstGeom>
              <a:solidFill>
                <a:schemeClr val="accent4"/>
              </a:solidFill>
              <a:ln w="9525">
                <a:noFill/>
              </a:ln>
              <a:effectLst>
                <a:outerShdw blurRad="50800" dist="38100" dir="2700000" algn="tl" rotWithShape="0">
                  <a:schemeClr val="accent1">
                    <a:alpha val="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Arial" panose="020B0604020202020204" pitchFamily="34" charset="0"/>
                  <a:ea typeface="思源黑体 CN Bold" panose="020B0800000000000000" charset="-122"/>
                </a:endParaRPr>
              </a:p>
            </p:txBody>
          </p:sp>
          <p:sp>
            <p:nvSpPr>
              <p:cNvPr id="12" name="平行四边形 11">
                <a:extLst>
                  <a:ext uri="{FF2B5EF4-FFF2-40B4-BE49-F238E27FC236}">
                    <a16:creationId xmlns:a16="http://schemas.microsoft.com/office/drawing/2014/main" id="{FDC067AA-C46C-48CC-8F25-A9902F571D93}"/>
                  </a:ext>
                </a:extLst>
              </p:cNvPr>
              <p:cNvSpPr/>
              <p:nvPr/>
            </p:nvSpPr>
            <p:spPr>
              <a:xfrm>
                <a:off x="4207191" y="1790715"/>
                <a:ext cx="3520440" cy="358140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86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</a:ln>
              <a:effectLst>
                <a:innerShdw blurRad="114300">
                  <a:schemeClr val="bg1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Arial" panose="020B0604020202020204" pitchFamily="34" charset="0"/>
                  <a:ea typeface="思源黑体 CN Bold" panose="020B0800000000000000" charset="-122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05F5AEA-5686-42DC-BBCC-D37BEDE3AE7B}"/>
                </a:ext>
              </a:extLst>
            </p:cNvPr>
            <p:cNvSpPr txBox="1"/>
            <p:nvPr/>
          </p:nvSpPr>
          <p:spPr>
            <a:xfrm>
              <a:off x="4803944" y="1626574"/>
              <a:ext cx="2374561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2000" kern="100" spc="100" dirty="0">
                  <a:gradFill>
                    <a:gsLst>
                      <a:gs pos="11000">
                        <a:schemeClr val="accent4">
                          <a:lumMod val="0"/>
                          <a:lumOff val="100000"/>
                        </a:schemeClr>
                      </a:gs>
                      <a:gs pos="61000">
                        <a:srgbClr val="FFE083"/>
                      </a:gs>
                      <a:gs pos="97000">
                        <a:srgbClr val="FFD557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96000"/>
                      </a:srgbClr>
                    </a:outerShdw>
                  </a:effectLst>
                  <a:latin typeface="+mj-ea"/>
                  <a:ea typeface="+mj-ea"/>
                  <a:cs typeface="Times New Roman" panose="02020603050405020304" pitchFamily="18" charset="0"/>
                </a:rPr>
                <a:t>全硬件</a:t>
              </a:r>
              <a:r>
                <a:rPr lang="en-US" altLang="zh-CN" sz="2000" kern="100" spc="100" dirty="0">
                  <a:gradFill>
                    <a:gsLst>
                      <a:gs pos="11000">
                        <a:schemeClr val="accent4">
                          <a:lumMod val="0"/>
                          <a:lumOff val="100000"/>
                        </a:schemeClr>
                      </a:gs>
                      <a:gs pos="61000">
                        <a:srgbClr val="FFE083"/>
                      </a:gs>
                      <a:gs pos="97000">
                        <a:srgbClr val="FFD557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96000"/>
                      </a:srgbClr>
                    </a:outerShdw>
                  </a:effectLst>
                  <a:latin typeface="+mj-ea"/>
                  <a:ea typeface="+mj-ea"/>
                  <a:cs typeface="Times New Roman" panose="02020603050405020304" pitchFamily="18" charset="0"/>
                </a:rPr>
                <a:t>YOLOv5n</a:t>
              </a:r>
              <a:r>
                <a:rPr lang="zh-CN" altLang="en-US" sz="2000" kern="100" spc="100" dirty="0">
                  <a:gradFill>
                    <a:gsLst>
                      <a:gs pos="11000">
                        <a:schemeClr val="accent4">
                          <a:lumMod val="0"/>
                          <a:lumOff val="100000"/>
                        </a:schemeClr>
                      </a:gs>
                      <a:gs pos="61000">
                        <a:srgbClr val="FFE083"/>
                      </a:gs>
                      <a:gs pos="97000">
                        <a:srgbClr val="FFD557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96000"/>
                      </a:srgbClr>
                    </a:outerShdw>
                  </a:effectLst>
                  <a:latin typeface="+mj-ea"/>
                  <a:ea typeface="+mj-ea"/>
                  <a:cs typeface="Times New Roman" panose="02020603050405020304" pitchFamily="18" charset="0"/>
                </a:rPr>
                <a:t>部署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C3A32040-5CD0-4EBC-BD18-596016FE8213}"/>
              </a:ext>
            </a:extLst>
          </p:cNvPr>
          <p:cNvSpPr txBox="1"/>
          <p:nvPr/>
        </p:nvSpPr>
        <p:spPr>
          <a:xfrm>
            <a:off x="4228435" y="2529861"/>
            <a:ext cx="3478357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基于紫光同创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FPGA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实现纯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RTL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级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YOLOv5n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全通道推理流程，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60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层卷积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+28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层残差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全流水硬连线执行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，</a:t>
            </a:r>
            <a:r>
              <a:rPr lang="zh-CN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完成了极高细粒度的</a:t>
            </a:r>
            <a:r>
              <a:rPr lang="zh-CN" altLang="zh-CN" sz="2400" dirty="0">
                <a:solidFill>
                  <a:schemeClr val="accent2"/>
                </a:solidFill>
                <a:latin typeface="+mn-ea"/>
              </a:rPr>
              <a:t>算子级调度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，彻底消除软件栈调度开销，实现算子级调度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, 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端到端延迟低至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</a:rPr>
              <a:t>14ms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，抖动控制在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</a:rPr>
              <a:t>1%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以内。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9C72CF-4F68-4B9D-BB25-2C6F9A68D81F}"/>
              </a:ext>
            </a:extLst>
          </p:cNvPr>
          <p:cNvSpPr/>
          <p:nvPr/>
        </p:nvSpPr>
        <p:spPr>
          <a:xfrm>
            <a:off x="8201248" y="1790700"/>
            <a:ext cx="3476985" cy="4381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6000">
                <a:srgbClr val="0159BA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63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48EB15-8626-4F04-B9EB-5BF77C9AB85B}"/>
              </a:ext>
            </a:extLst>
          </p:cNvPr>
          <p:cNvSpPr/>
          <p:nvPr/>
        </p:nvSpPr>
        <p:spPr>
          <a:xfrm>
            <a:off x="8206494" y="1740498"/>
            <a:ext cx="3471739" cy="491963"/>
          </a:xfrm>
          <a:prstGeom prst="rect">
            <a:avLst/>
          </a:prstGeom>
          <a:solidFill>
            <a:schemeClr val="bg1"/>
          </a:solidFill>
          <a:ln w="9525">
            <a:solidFill>
              <a:srgbClr val="0AD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8C010E-1339-4126-8C11-A4C1A56C1CEE}"/>
              </a:ext>
            </a:extLst>
          </p:cNvPr>
          <p:cNvSpPr txBox="1"/>
          <p:nvPr/>
        </p:nvSpPr>
        <p:spPr>
          <a:xfrm>
            <a:off x="8531721" y="1832591"/>
            <a:ext cx="282128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全链路零拷贝与异构协同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46D8DB-15A1-451C-A052-F1C740CB64B9}"/>
              </a:ext>
            </a:extLst>
          </p:cNvPr>
          <p:cNvSpPr txBox="1"/>
          <p:nvPr/>
        </p:nvSpPr>
        <p:spPr>
          <a:xfrm>
            <a:off x="8434289" y="2419763"/>
            <a:ext cx="3016148" cy="3749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PCIe 2.0 x2 DMA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直传速率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突破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800MB/s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RK3568 ARM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三线程异步并发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，数据全程不落地、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CPU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零搬运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1080p@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60Hz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实时感知，满载功耗仅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4.2W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1DFB2B7-46C0-42B2-93EC-93F4D18E0F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6177" y="1968477"/>
            <a:ext cx="3594109" cy="3594109"/>
          </a:xfrm>
          <a:custGeom>
            <a:avLst/>
            <a:gdLst>
              <a:gd name="connsiteX0" fmla="*/ 867600 w 2439664"/>
              <a:gd name="connsiteY0" fmla="*/ 0 h 2439664"/>
              <a:gd name="connsiteX1" fmla="*/ 2439664 w 2439664"/>
              <a:gd name="connsiteY1" fmla="*/ 0 h 2439664"/>
              <a:gd name="connsiteX2" fmla="*/ 2439664 w 2439664"/>
              <a:gd name="connsiteY2" fmla="*/ 2439664 h 2439664"/>
              <a:gd name="connsiteX3" fmla="*/ 1098050 w 2439664"/>
              <a:gd name="connsiteY3" fmla="*/ 2439664 h 2439664"/>
              <a:gd name="connsiteX4" fmla="*/ 1088970 w 2439664"/>
              <a:gd name="connsiteY4" fmla="*/ 2422890 h 2439664"/>
              <a:gd name="connsiteX5" fmla="*/ 340560 w 2439664"/>
              <a:gd name="connsiteY5" fmla="*/ 1782279 h 2439664"/>
              <a:gd name="connsiteX6" fmla="*/ 130730 w 2439664"/>
              <a:gd name="connsiteY6" fmla="*/ 1677343 h 2439664"/>
              <a:gd name="connsiteX7" fmla="*/ 0 w 2439664"/>
              <a:gd name="connsiteY7" fmla="*/ 1624765 h 2439664"/>
              <a:gd name="connsiteX8" fmla="*/ 0 w 2439664"/>
              <a:gd name="connsiteY8" fmla="*/ 899002 h 2439664"/>
              <a:gd name="connsiteX9" fmla="*/ 48129 w 2439664"/>
              <a:gd name="connsiteY9" fmla="*/ 901140 h 2439664"/>
              <a:gd name="connsiteX10" fmla="*/ 889001 w 2439664"/>
              <a:gd name="connsiteY10" fmla="*/ 161334 h 2439664"/>
              <a:gd name="connsiteX11" fmla="*/ 871918 w 2439664"/>
              <a:gd name="connsiteY11" fmla="*/ 12237 h 243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9664" h="2439664">
                <a:moveTo>
                  <a:pt x="867600" y="0"/>
                </a:moveTo>
                <a:lnTo>
                  <a:pt x="2439664" y="0"/>
                </a:lnTo>
                <a:lnTo>
                  <a:pt x="2439664" y="2439664"/>
                </a:lnTo>
                <a:lnTo>
                  <a:pt x="1098050" y="2439664"/>
                </a:lnTo>
                <a:lnTo>
                  <a:pt x="1088970" y="2422890"/>
                </a:lnTo>
                <a:cubicBezTo>
                  <a:pt x="964129" y="2216182"/>
                  <a:pt x="692321" y="1975864"/>
                  <a:pt x="340560" y="1782279"/>
                </a:cubicBezTo>
                <a:cubicBezTo>
                  <a:pt x="270208" y="1743562"/>
                  <a:pt x="199988" y="1708547"/>
                  <a:pt x="130730" y="1677343"/>
                </a:cubicBezTo>
                <a:lnTo>
                  <a:pt x="0" y="1624765"/>
                </a:lnTo>
                <a:lnTo>
                  <a:pt x="0" y="899002"/>
                </a:lnTo>
                <a:lnTo>
                  <a:pt x="48129" y="901140"/>
                </a:lnTo>
                <a:cubicBezTo>
                  <a:pt x="512530" y="901140"/>
                  <a:pt x="889001" y="569918"/>
                  <a:pt x="889001" y="161334"/>
                </a:cubicBezTo>
                <a:cubicBezTo>
                  <a:pt x="889001" y="110261"/>
                  <a:pt x="883119" y="60397"/>
                  <a:pt x="871918" y="12237"/>
                </a:cubicBezTo>
                <a:close/>
              </a:path>
            </a:pathLst>
          </a:cu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646000" y="1800000"/>
            <a:ext cx="900000" cy="90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+mj-ea"/>
                <a:ea typeface="+mj-ea"/>
              </a:rPr>
              <a:t>实现方案</a:t>
            </a: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3290638" y="3780000"/>
            <a:ext cx="5558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666666"/>
                </a:solidFill>
                <a:latin typeface="+mj-ea"/>
                <a:ea typeface="+mj-ea"/>
              </a:rPr>
              <a:t>FPGA</a:t>
            </a:r>
            <a:r>
              <a:rPr lang="zh-CN" altLang="en-US" sz="2800" dirty="0">
                <a:solidFill>
                  <a:srgbClr val="666666"/>
                </a:solidFill>
                <a:latin typeface="+mj-ea"/>
                <a:ea typeface="+mj-ea"/>
              </a:rPr>
              <a:t>与</a:t>
            </a:r>
            <a:r>
              <a:rPr lang="en-US" altLang="zh-CN" sz="2800" dirty="0">
                <a:solidFill>
                  <a:srgbClr val="666666"/>
                </a:solidFill>
                <a:latin typeface="+mj-ea"/>
                <a:ea typeface="+mj-ea"/>
              </a:rPr>
              <a:t>ARM</a:t>
            </a:r>
            <a:r>
              <a:rPr lang="zh-CN" altLang="en-US" sz="2800" dirty="0">
                <a:solidFill>
                  <a:srgbClr val="666666"/>
                </a:solidFill>
                <a:latin typeface="+mj-ea"/>
                <a:ea typeface="+mj-ea"/>
              </a:rPr>
              <a:t>异构协同全硬件加速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实现方案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: 圆顶角 47"/>
          <p:cNvSpPr/>
          <p:nvPr/>
        </p:nvSpPr>
        <p:spPr>
          <a:xfrm rot="16200000">
            <a:off x="1080000" y="2160000"/>
            <a:ext cx="1728000" cy="14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2" y="0"/>
                </a:moveTo>
                <a:lnTo>
                  <a:pt x="20228" y="0"/>
                </a:lnTo>
                <a:cubicBezTo>
                  <a:pt x="20986" y="0"/>
                  <a:pt x="21600" y="752"/>
                  <a:pt x="21600" y="167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679"/>
                </a:lnTo>
                <a:cubicBezTo>
                  <a:pt x="0" y="752"/>
                  <a:pt x="614" y="0"/>
                  <a:pt x="1372" y="0"/>
                </a:cubicBezTo>
                <a:close/>
              </a:path>
            </a:pathLst>
          </a:custGeom>
          <a:gradFill>
            <a:gsLst>
              <a:gs pos="0">
                <a:srgbClr val="2A64E3"/>
              </a:gs>
              <a:gs pos="100000">
                <a:srgbClr val="27A4AA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4" name="文本框 6"/>
          <p:cNvSpPr txBox="1"/>
          <p:nvPr/>
        </p:nvSpPr>
        <p:spPr>
          <a:xfrm>
            <a:off x="1466889" y="2700000"/>
            <a:ext cx="938505" cy="41735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FPGA</a:t>
            </a:r>
            <a:r>
              <a:rPr lang="zh-CN" altLang="en-US" dirty="0">
                <a:latin typeface="+mj-ea"/>
                <a:ea typeface="+mj-ea"/>
              </a:rPr>
              <a:t>端</a:t>
            </a:r>
          </a:p>
        </p:txBody>
      </p:sp>
      <p:sp>
        <p:nvSpPr>
          <p:cNvPr id="325" name="矩形: 圆角 19"/>
          <p:cNvSpPr/>
          <p:nvPr>
            <p:custDataLst>
              <p:tags r:id="rId2"/>
            </p:custDataLst>
          </p:nvPr>
        </p:nvSpPr>
        <p:spPr>
          <a:xfrm>
            <a:off x="2880000" y="201600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6" name="文本框 8"/>
          <p:cNvSpPr txBox="1"/>
          <p:nvPr>
            <p:custDataLst>
              <p:tags r:id="rId3"/>
            </p:custDataLst>
          </p:nvPr>
        </p:nvSpPr>
        <p:spPr>
          <a:xfrm>
            <a:off x="5868086" y="2052000"/>
            <a:ext cx="932180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 lang="en-US">
                <a:latin typeface="HarmonyOS Sans SC Black" panose="00000A00000000000000" charset="-122"/>
                <a:ea typeface="HarmonyOS Sans SC Black" panose="00000A00000000000000" charset="-122"/>
              </a:rPr>
              <a:t>01</a:t>
            </a:r>
          </a:p>
        </p:txBody>
      </p:sp>
      <p:sp>
        <p:nvSpPr>
          <p:cNvPr id="327" name="矩形: 圆角 19"/>
          <p:cNvSpPr/>
          <p:nvPr>
            <p:custDataLst>
              <p:tags r:id="rId4"/>
            </p:custDataLst>
          </p:nvPr>
        </p:nvSpPr>
        <p:spPr>
          <a:xfrm>
            <a:off x="7020000" y="201605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8" name="文本框 10"/>
          <p:cNvSpPr txBox="1"/>
          <p:nvPr>
            <p:custDataLst>
              <p:tags r:id="rId5"/>
            </p:custDataLst>
          </p:nvPr>
        </p:nvSpPr>
        <p:spPr>
          <a:xfrm>
            <a:off x="9900000" y="2052000"/>
            <a:ext cx="998220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>
                <a:latin typeface="HarmonyOS Sans SC Black" panose="00000A00000000000000" charset="-122"/>
                <a:ea typeface="HarmonyOS Sans SC Black" panose="00000A00000000000000" charset="-122"/>
              </a:rPr>
              <a:t>02</a:t>
            </a:r>
          </a:p>
        </p:txBody>
      </p:sp>
      <p:sp>
        <p:nvSpPr>
          <p:cNvPr id="329" name="矩形: 圆顶角 63"/>
          <p:cNvSpPr/>
          <p:nvPr/>
        </p:nvSpPr>
        <p:spPr>
          <a:xfrm rot="16200000">
            <a:off x="1080000" y="4320000"/>
            <a:ext cx="1728000" cy="14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2" y="0"/>
                </a:moveTo>
                <a:lnTo>
                  <a:pt x="20228" y="0"/>
                </a:lnTo>
                <a:cubicBezTo>
                  <a:pt x="20986" y="0"/>
                  <a:pt x="21600" y="752"/>
                  <a:pt x="21600" y="167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679"/>
                </a:lnTo>
                <a:cubicBezTo>
                  <a:pt x="0" y="752"/>
                  <a:pt x="614" y="0"/>
                  <a:pt x="1372" y="0"/>
                </a:cubicBezTo>
                <a:close/>
              </a:path>
            </a:pathLst>
          </a:custGeom>
          <a:gradFill>
            <a:gsLst>
              <a:gs pos="0">
                <a:srgbClr val="2A64E3"/>
              </a:gs>
              <a:gs pos="100000">
                <a:srgbClr val="27A4AA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30" name="文本框 12"/>
          <p:cNvSpPr txBox="1"/>
          <p:nvPr/>
        </p:nvSpPr>
        <p:spPr>
          <a:xfrm>
            <a:off x="1476088" y="4883959"/>
            <a:ext cx="938505" cy="41735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ARM</a:t>
            </a:r>
            <a:r>
              <a:rPr lang="zh-CN" altLang="en-US" dirty="0">
                <a:latin typeface="+mj-ea"/>
                <a:ea typeface="+mj-ea"/>
              </a:rPr>
              <a:t>端</a:t>
            </a:r>
          </a:p>
        </p:txBody>
      </p:sp>
      <p:sp>
        <p:nvSpPr>
          <p:cNvPr id="335" name="文本框 17"/>
          <p:cNvSpPr txBox="1"/>
          <p:nvPr>
            <p:custDataLst>
              <p:tags r:id="rId6"/>
            </p:custDataLst>
          </p:nvPr>
        </p:nvSpPr>
        <p:spPr>
          <a:xfrm>
            <a:off x="3131999" y="2700000"/>
            <a:ext cx="2360785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YOLOv5n</a:t>
            </a:r>
            <a:r>
              <a:rPr lang="zh-CN" altLang="en-US" dirty="0">
                <a:latin typeface="+mj-ea"/>
                <a:ea typeface="+mj-ea"/>
              </a:rPr>
              <a:t>硬连线推理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36" name="文本框 18"/>
          <p:cNvSpPr txBox="1"/>
          <p:nvPr>
            <p:custDataLst>
              <p:tags r:id="rId7"/>
            </p:custDataLst>
          </p:nvPr>
        </p:nvSpPr>
        <p:spPr>
          <a:xfrm>
            <a:off x="3132000" y="298800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OV5640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HDMI</a:t>
            </a:r>
            <a:r>
              <a:rPr lang="zh-CN" altLang="en-US" dirty="0">
                <a:latin typeface="+mn-ea"/>
                <a:ea typeface="+mn-ea"/>
              </a:rPr>
              <a:t>采集图像经乒乓缓存进入</a:t>
            </a:r>
            <a:r>
              <a:rPr lang="en-US" altLang="zh-CN" dirty="0">
                <a:latin typeface="+mn-ea"/>
                <a:ea typeface="+mn-ea"/>
              </a:rPr>
              <a:t>FPGA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88</a:t>
            </a:r>
            <a:r>
              <a:rPr lang="zh-CN" altLang="en-US" dirty="0">
                <a:latin typeface="+mn-ea"/>
                <a:ea typeface="+mn-ea"/>
              </a:rPr>
              <a:t>层</a:t>
            </a:r>
            <a:r>
              <a:rPr lang="en-US" altLang="zh-CN" dirty="0">
                <a:latin typeface="+mn-ea"/>
                <a:ea typeface="+mn-ea"/>
              </a:rPr>
              <a:t>INT8</a:t>
            </a:r>
            <a:r>
              <a:rPr lang="zh-CN" altLang="en-US" dirty="0">
                <a:latin typeface="+mn-ea"/>
                <a:ea typeface="+mn-ea"/>
              </a:rPr>
              <a:t>量化全流水执行，检测头输出目标框与类别信息。</a:t>
            </a:r>
          </a:p>
        </p:txBody>
      </p:sp>
      <p:sp>
        <p:nvSpPr>
          <p:cNvPr id="337" name="矩形: 圆角 61"/>
          <p:cNvSpPr/>
          <p:nvPr>
            <p:custDataLst>
              <p:tags r:id="rId8"/>
            </p:custDataLst>
          </p:nvPr>
        </p:nvSpPr>
        <p:spPr>
          <a:xfrm>
            <a:off x="3168000" y="2232000"/>
            <a:ext cx="319066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38" name="文本框 20"/>
          <p:cNvSpPr txBox="1"/>
          <p:nvPr>
            <p:custDataLst>
              <p:tags r:id="rId9"/>
            </p:custDataLst>
          </p:nvPr>
        </p:nvSpPr>
        <p:spPr>
          <a:xfrm>
            <a:off x="7199999" y="2700000"/>
            <a:ext cx="2216699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HarmonyOS Sans SC Medium" panose="00000600000000000000" charset="-122"/>
                <a:ea typeface="HarmonyOS Sans SC Medium" panose="00000600000000000000" charset="-122"/>
                <a:sym typeface="+mn-ea"/>
              </a:rPr>
              <a:t>PCIe DMA</a:t>
            </a:r>
            <a:r>
              <a:rPr lang="zh-CN" altLang="en-US" dirty="0">
                <a:latin typeface="HarmonyOS Sans SC Medium" panose="00000600000000000000" charset="-122"/>
                <a:ea typeface="HarmonyOS Sans SC Medium" panose="00000600000000000000" charset="-122"/>
                <a:sym typeface="+mn-ea"/>
              </a:rPr>
              <a:t>高速互联</a:t>
            </a:r>
          </a:p>
        </p:txBody>
      </p:sp>
      <p:sp>
        <p:nvSpPr>
          <p:cNvPr id="339" name="文本框 21"/>
          <p:cNvSpPr txBox="1"/>
          <p:nvPr>
            <p:custDataLst>
              <p:tags r:id="rId10"/>
            </p:custDataLst>
          </p:nvPr>
        </p:nvSpPr>
        <p:spPr>
          <a:xfrm>
            <a:off x="7200000" y="298800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自定义</a:t>
            </a:r>
            <a:r>
              <a:rPr lang="en-US" altLang="zh-CN" dirty="0">
                <a:latin typeface="+mn-ea"/>
                <a:ea typeface="+mn-ea"/>
              </a:rPr>
              <a:t>DMA</a:t>
            </a:r>
            <a:r>
              <a:rPr lang="zh-CN" altLang="en-US" dirty="0">
                <a:latin typeface="+mn-ea"/>
                <a:ea typeface="+mn-ea"/>
              </a:rPr>
              <a:t>引擎通过</a:t>
            </a:r>
            <a:r>
              <a:rPr lang="en-US" altLang="zh-CN" dirty="0">
                <a:latin typeface="+mn-ea"/>
                <a:ea typeface="+mn-ea"/>
              </a:rPr>
              <a:t>PCIe 2.0 x2</a:t>
            </a:r>
            <a:r>
              <a:rPr lang="zh-CN" altLang="en-US" dirty="0">
                <a:latin typeface="+mn-ea"/>
                <a:ea typeface="+mn-ea"/>
              </a:rPr>
              <a:t>直传数据至</a:t>
            </a:r>
            <a:r>
              <a:rPr lang="en-US" altLang="zh-CN" dirty="0">
                <a:latin typeface="+mn-ea"/>
                <a:ea typeface="+mn-ea"/>
              </a:rPr>
              <a:t>RK3568</a:t>
            </a:r>
            <a:r>
              <a:rPr lang="zh-CN" altLang="en-US" dirty="0">
                <a:latin typeface="+mn-ea"/>
                <a:ea typeface="+mn-ea"/>
              </a:rPr>
              <a:t>，实测带宽</a:t>
            </a:r>
            <a:r>
              <a:rPr lang="en-US" altLang="zh-CN" dirty="0">
                <a:latin typeface="+mn-ea"/>
                <a:ea typeface="+mn-ea"/>
              </a:rPr>
              <a:t>800MB/s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 err="1">
                <a:latin typeface="+mn-ea"/>
                <a:ea typeface="+mn-ea"/>
              </a:rPr>
              <a:t>MaxPayload</a:t>
            </a:r>
            <a:r>
              <a:rPr lang="en-US" altLang="zh-CN" dirty="0">
                <a:latin typeface="+mn-ea"/>
                <a:ea typeface="+mn-ea"/>
              </a:rPr>
              <a:t>=256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MRRS=1024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sp>
        <p:nvSpPr>
          <p:cNvPr id="340" name="矩形: 圆角 59"/>
          <p:cNvSpPr/>
          <p:nvPr>
            <p:custDataLst>
              <p:tags r:id="rId11"/>
            </p:custDataLst>
          </p:nvPr>
        </p:nvSpPr>
        <p:spPr>
          <a:xfrm>
            <a:off x="7272000" y="2232000"/>
            <a:ext cx="319065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47" name="instructor-giving-a-lecture-with-circular-graphic-on-screen_43194"/>
          <p:cNvSpPr/>
          <p:nvPr>
            <p:custDataLst>
              <p:tags r:id="rId12"/>
            </p:custDataLst>
          </p:nvPr>
        </p:nvSpPr>
        <p:spPr>
          <a:xfrm>
            <a:off x="3235785" y="2307471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48" name="instructor-giving-a-lecture-with-circular-graphic-on-screen_43194"/>
          <p:cNvSpPr/>
          <p:nvPr>
            <p:custDataLst>
              <p:tags r:id="rId13"/>
            </p:custDataLst>
          </p:nvPr>
        </p:nvSpPr>
        <p:spPr>
          <a:xfrm>
            <a:off x="7344000" y="2307600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" name="矩形: 圆角 19"/>
          <p:cNvSpPr/>
          <p:nvPr>
            <p:custDataLst>
              <p:tags r:id="rId14"/>
            </p:custDataLst>
          </p:nvPr>
        </p:nvSpPr>
        <p:spPr>
          <a:xfrm>
            <a:off x="2880000" y="417627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" name="文本框 8"/>
          <p:cNvSpPr txBox="1"/>
          <p:nvPr>
            <p:custDataLst>
              <p:tags r:id="rId15"/>
            </p:custDataLst>
          </p:nvPr>
        </p:nvSpPr>
        <p:spPr>
          <a:xfrm>
            <a:off x="5793105" y="4212000"/>
            <a:ext cx="1011555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 lang="en-US">
                <a:latin typeface="HarmonyOS Sans SC Black" panose="00000A00000000000000" charset="-122"/>
                <a:ea typeface="HarmonyOS Sans SC Black" panose="00000A00000000000000" charset="-122"/>
              </a:rPr>
              <a:t>03</a:t>
            </a:r>
          </a:p>
        </p:txBody>
      </p:sp>
      <p:sp>
        <p:nvSpPr>
          <p:cNvPr id="5" name="文本框 17"/>
          <p:cNvSpPr txBox="1"/>
          <p:nvPr>
            <p:custDataLst>
              <p:tags r:id="rId16"/>
            </p:custDataLst>
          </p:nvPr>
        </p:nvSpPr>
        <p:spPr>
          <a:xfrm>
            <a:off x="3132000" y="4860270"/>
            <a:ext cx="1943698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三线程异步处理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6" name="文本框 18"/>
          <p:cNvSpPr txBox="1"/>
          <p:nvPr>
            <p:custDataLst>
              <p:tags r:id="rId17"/>
            </p:custDataLst>
          </p:nvPr>
        </p:nvSpPr>
        <p:spPr>
          <a:xfrm>
            <a:off x="3132000" y="514827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RK3568</a:t>
            </a:r>
            <a:r>
              <a:rPr lang="zh-CN" altLang="en-US" dirty="0">
                <a:latin typeface="+mn-ea"/>
                <a:ea typeface="+mn-ea"/>
              </a:rPr>
              <a:t>运行</a:t>
            </a:r>
            <a:r>
              <a:rPr lang="en-US" altLang="zh-CN" dirty="0" err="1">
                <a:latin typeface="+mn-ea"/>
                <a:ea typeface="+mn-ea"/>
              </a:rPr>
              <a:t>LPRNet</a:t>
            </a:r>
            <a:r>
              <a:rPr lang="zh-CN" altLang="en-US" dirty="0">
                <a:latin typeface="+mn-ea"/>
                <a:ea typeface="+mn-ea"/>
              </a:rPr>
              <a:t>完成车牌识别，采集、推理、渲染三线程并发，消除串行等待，</a:t>
            </a:r>
            <a:r>
              <a:rPr lang="en-US" altLang="zh-CN" dirty="0">
                <a:latin typeface="+mn-ea"/>
                <a:ea typeface="+mn-ea"/>
              </a:rPr>
              <a:t>CPU</a:t>
            </a:r>
            <a:r>
              <a:rPr lang="zh-CN" altLang="en-US" dirty="0">
                <a:latin typeface="+mn-ea"/>
                <a:ea typeface="+mn-ea"/>
              </a:rPr>
              <a:t>全程零搬运。</a:t>
            </a:r>
          </a:p>
        </p:txBody>
      </p:sp>
      <p:sp>
        <p:nvSpPr>
          <p:cNvPr id="7" name="矩形: 圆角 61"/>
          <p:cNvSpPr/>
          <p:nvPr>
            <p:custDataLst>
              <p:tags r:id="rId18"/>
            </p:custDataLst>
          </p:nvPr>
        </p:nvSpPr>
        <p:spPr>
          <a:xfrm>
            <a:off x="3168000" y="4392270"/>
            <a:ext cx="319066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" name="instructor-giving-a-lecture-with-circular-graphic-on-screen_43194"/>
          <p:cNvSpPr/>
          <p:nvPr>
            <p:custDataLst>
              <p:tags r:id="rId19"/>
            </p:custDataLst>
          </p:nvPr>
        </p:nvSpPr>
        <p:spPr>
          <a:xfrm>
            <a:off x="3240230" y="4467741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9" name="矩形: 圆角 19"/>
          <p:cNvSpPr/>
          <p:nvPr>
            <p:custDataLst>
              <p:tags r:id="rId20"/>
            </p:custDataLst>
          </p:nvPr>
        </p:nvSpPr>
        <p:spPr>
          <a:xfrm>
            <a:off x="7020635" y="417600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1" name="文本框 10"/>
          <p:cNvSpPr txBox="1"/>
          <p:nvPr>
            <p:custDataLst>
              <p:tags r:id="rId21"/>
            </p:custDataLst>
          </p:nvPr>
        </p:nvSpPr>
        <p:spPr>
          <a:xfrm>
            <a:off x="9900000" y="4211955"/>
            <a:ext cx="998220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>
                <a:latin typeface="HarmonyOS Sans SC Black" panose="00000A00000000000000" charset="-122"/>
                <a:ea typeface="HarmonyOS Sans SC Black" panose="00000A00000000000000" charset="-122"/>
              </a:rPr>
              <a:t>0</a:t>
            </a:r>
            <a:r>
              <a:rPr lang="en-US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  <p:sp>
        <p:nvSpPr>
          <p:cNvPr id="12" name="文本框 20"/>
          <p:cNvSpPr txBox="1"/>
          <p:nvPr>
            <p:custDataLst>
              <p:tags r:id="rId22"/>
            </p:custDataLst>
          </p:nvPr>
        </p:nvSpPr>
        <p:spPr>
          <a:xfrm>
            <a:off x="7200635" y="4860000"/>
            <a:ext cx="1943698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零拷贝贯穿全链路</a:t>
            </a:r>
          </a:p>
        </p:txBody>
      </p:sp>
      <p:sp>
        <p:nvSpPr>
          <p:cNvPr id="13" name="文本框 21"/>
          <p:cNvSpPr txBox="1"/>
          <p:nvPr>
            <p:custDataLst>
              <p:tags r:id="rId23"/>
            </p:custDataLst>
          </p:nvPr>
        </p:nvSpPr>
        <p:spPr>
          <a:xfrm>
            <a:off x="7200635" y="514800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从摄像头到</a:t>
            </a:r>
            <a:r>
              <a:rPr lang="en-US" altLang="zh-CN" dirty="0">
                <a:latin typeface="+mn-ea"/>
                <a:ea typeface="+mn-ea"/>
              </a:rPr>
              <a:t>HDMI</a:t>
            </a:r>
            <a:r>
              <a:rPr lang="zh-CN" altLang="en-US" dirty="0">
                <a:latin typeface="+mn-ea"/>
                <a:ea typeface="+mn-ea"/>
              </a:rPr>
              <a:t>输出，数据经</a:t>
            </a:r>
            <a:r>
              <a:rPr lang="en-US" altLang="zh-CN" dirty="0">
                <a:latin typeface="+mn-ea"/>
                <a:ea typeface="+mn-ea"/>
              </a:rPr>
              <a:t>DMA</a:t>
            </a:r>
            <a:r>
              <a:rPr lang="zh-CN" altLang="en-US" dirty="0">
                <a:latin typeface="+mn-ea"/>
                <a:ea typeface="+mn-ea"/>
              </a:rPr>
              <a:t>直写内核、</a:t>
            </a:r>
            <a:r>
              <a:rPr lang="en-US" altLang="zh-CN" dirty="0" err="1">
                <a:latin typeface="+mn-ea"/>
                <a:ea typeface="+mn-ea"/>
              </a:rPr>
              <a:t>mmap</a:t>
            </a:r>
            <a:r>
              <a:rPr lang="zh-CN" altLang="en-US" dirty="0">
                <a:latin typeface="+mn-ea"/>
                <a:ea typeface="+mn-ea"/>
              </a:rPr>
              <a:t>映射、</a:t>
            </a:r>
            <a:r>
              <a:rPr lang="en-US" altLang="zh-CN" dirty="0">
                <a:latin typeface="+mn-ea"/>
                <a:ea typeface="+mn-ea"/>
              </a:rPr>
              <a:t>RGA</a:t>
            </a:r>
            <a:r>
              <a:rPr lang="zh-CN" altLang="en-US" dirty="0">
                <a:latin typeface="+mn-ea"/>
                <a:ea typeface="+mn-ea"/>
              </a:rPr>
              <a:t>硬件转换、</a:t>
            </a:r>
            <a:r>
              <a:rPr lang="en-US" altLang="zh-CN" dirty="0">
                <a:latin typeface="+mn-ea"/>
                <a:ea typeface="+mn-ea"/>
              </a:rPr>
              <a:t>DRM</a:t>
            </a:r>
            <a:r>
              <a:rPr lang="zh-CN" altLang="en-US" dirty="0">
                <a:latin typeface="+mn-ea"/>
                <a:ea typeface="+mn-ea"/>
              </a:rPr>
              <a:t>直显，全程无</a:t>
            </a:r>
            <a:r>
              <a:rPr lang="en-US" altLang="zh-CN" dirty="0">
                <a:latin typeface="+mn-ea"/>
                <a:ea typeface="+mn-ea"/>
              </a:rPr>
              <a:t>CPU</a:t>
            </a:r>
            <a:r>
              <a:rPr lang="zh-CN" altLang="en-US" dirty="0">
                <a:latin typeface="+mn-ea"/>
                <a:ea typeface="+mn-ea"/>
              </a:rPr>
              <a:t>干预。</a:t>
            </a:r>
          </a:p>
        </p:txBody>
      </p:sp>
      <p:sp>
        <p:nvSpPr>
          <p:cNvPr id="14" name="矩形: 圆角 59"/>
          <p:cNvSpPr/>
          <p:nvPr>
            <p:custDataLst>
              <p:tags r:id="rId24"/>
            </p:custDataLst>
          </p:nvPr>
        </p:nvSpPr>
        <p:spPr>
          <a:xfrm>
            <a:off x="7272635" y="4392000"/>
            <a:ext cx="319065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5" name="instructor-giving-a-lecture-with-circular-graphic-on-screen_43194"/>
          <p:cNvSpPr/>
          <p:nvPr>
            <p:custDataLst>
              <p:tags r:id="rId25"/>
            </p:custDataLst>
          </p:nvPr>
        </p:nvSpPr>
        <p:spPr>
          <a:xfrm>
            <a:off x="7344635" y="4472950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723" y="-343478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841118" y="16522"/>
            <a:ext cx="4721358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pPr algn="l"/>
            <a:r>
              <a:rPr lang="zh-CN" altLang="en-US" dirty="0">
                <a:latin typeface="+mj-ea"/>
                <a:ea typeface="+mj-ea"/>
              </a:rPr>
              <a:t>系统搭建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41118" y="536590"/>
            <a:ext cx="1423910" cy="72908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21374F-01D9-42E7-9A97-E9F0BE9129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55" y="752814"/>
            <a:ext cx="4059862" cy="6132309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5AE3322C-8491-4905-B4F6-B41CE45ABBD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4780" y="819926"/>
            <a:ext cx="5803081" cy="59889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938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3349784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重点创新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645785" y="2269784"/>
            <a:ext cx="900000" cy="90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45024" y="-179454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807544" y="76235"/>
            <a:ext cx="4851762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pPr algn="l"/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计算单元复用映射</a:t>
            </a:r>
          </a:p>
        </p:txBody>
      </p:sp>
      <p:sp>
        <p:nvSpPr>
          <p:cNvPr id="35" name="矩形 34"/>
          <p:cNvSpPr/>
          <p:nvPr/>
        </p:nvSpPr>
        <p:spPr>
          <a:xfrm>
            <a:off x="807544" y="600448"/>
            <a:ext cx="2791333" cy="93513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R-C"/>
          <p:cNvPicPr/>
          <p:nvPr/>
        </p:nvPicPr>
        <p:blipFill>
          <a:blip r:embed="rId26"/>
          <a:srcRect t="19570" b="20843"/>
          <a:stretch>
            <a:fillRect/>
          </a:stretch>
        </p:blipFill>
        <p:spPr>
          <a:xfrm>
            <a:off x="347355" y="3253363"/>
            <a:ext cx="11520000" cy="3600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47355" y="1248876"/>
            <a:ext cx="1152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矩形: 圆角 84"/>
          <p:cNvSpPr/>
          <p:nvPr>
            <p:custDataLst>
              <p:tags r:id="rId2"/>
            </p:custDataLst>
          </p:nvPr>
        </p:nvSpPr>
        <p:spPr>
          <a:xfrm rot="283348">
            <a:off x="1179151" y="4618618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0" name="矩形: 圆角 69"/>
          <p:cNvSpPr/>
          <p:nvPr>
            <p:custDataLst>
              <p:tags r:id="rId3"/>
            </p:custDataLst>
          </p:nvPr>
        </p:nvSpPr>
        <p:spPr>
          <a:xfrm>
            <a:off x="778414" y="4245735"/>
            <a:ext cx="3292241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1" name="TextBox 21"/>
          <p:cNvSpPr txBox="1"/>
          <p:nvPr>
            <p:custDataLst>
              <p:tags r:id="rId4"/>
            </p:custDataLst>
          </p:nvPr>
        </p:nvSpPr>
        <p:spPr>
          <a:xfrm>
            <a:off x="1077545" y="4993714"/>
            <a:ext cx="2704420" cy="52681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YOLOv5n</a:t>
            </a:r>
            <a:r>
              <a:rPr lang="zh-CN" altLang="en-US" dirty="0">
                <a:latin typeface="+mn-ea"/>
                <a:ea typeface="+mn-ea"/>
              </a:rPr>
              <a:t>网络完全由</a:t>
            </a:r>
            <a:r>
              <a:rPr lang="en-US" altLang="zh-CN" dirty="0">
                <a:latin typeface="+mn-ea"/>
                <a:ea typeface="+mn-ea"/>
              </a:rPr>
              <a:t>Verilog</a:t>
            </a:r>
            <a:r>
              <a:rPr lang="zh-CN" altLang="en-US" dirty="0">
                <a:latin typeface="+mn-ea"/>
                <a:ea typeface="+mn-ea"/>
              </a:rPr>
              <a:t>描述，</a:t>
            </a:r>
            <a:r>
              <a:rPr lang="en-US" altLang="zh-CN" dirty="0">
                <a:latin typeface="+mn-ea"/>
                <a:ea typeface="+mn-ea"/>
              </a:rPr>
              <a:t>1.9M</a:t>
            </a:r>
            <a:r>
              <a:rPr lang="zh-CN" altLang="en-US" dirty="0">
                <a:latin typeface="+mn-ea"/>
                <a:ea typeface="+mn-ea"/>
              </a:rPr>
              <a:t>参数固化片上，彻底规避操作系统调度不确定性。</a:t>
            </a:r>
          </a:p>
        </p:txBody>
      </p:sp>
      <p:sp>
        <p:nvSpPr>
          <p:cNvPr id="412" name="直接连接符 10"/>
          <p:cNvSpPr/>
          <p:nvPr>
            <p:custDataLst>
              <p:tags r:id="rId5"/>
            </p:custDataLst>
          </p:nvPr>
        </p:nvSpPr>
        <p:spPr>
          <a:xfrm>
            <a:off x="1297960" y="4843791"/>
            <a:ext cx="1456549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3" name="TextBox 20"/>
          <p:cNvSpPr txBox="1"/>
          <p:nvPr>
            <p:custDataLst>
              <p:tags r:id="rId6"/>
            </p:custDataLst>
          </p:nvPr>
        </p:nvSpPr>
        <p:spPr>
          <a:xfrm>
            <a:off x="1538789" y="4521489"/>
            <a:ext cx="1966514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采集到推理</a:t>
            </a:r>
            <a:r>
              <a:rPr lang="en-US" altLang="zh-CN" dirty="0">
                <a:latin typeface="+mj-ea"/>
                <a:ea typeface="+mj-ea"/>
              </a:rPr>
              <a:t>RTL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14" name="椭圆 12"/>
          <p:cNvSpPr/>
          <p:nvPr>
            <p:custDataLst>
              <p:tags r:id="rId7"/>
            </p:custDataLst>
          </p:nvPr>
        </p:nvSpPr>
        <p:spPr>
          <a:xfrm>
            <a:off x="995106" y="4431858"/>
            <a:ext cx="472166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5" name="Object 800011"/>
          <p:cNvSpPr txBox="1"/>
          <p:nvPr>
            <p:custDataLst>
              <p:tags r:id="rId8"/>
            </p:custDataLst>
          </p:nvPr>
        </p:nvSpPr>
        <p:spPr>
          <a:xfrm>
            <a:off x="1061981" y="4492092"/>
            <a:ext cx="338415" cy="361950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01</a:t>
            </a:r>
          </a:p>
        </p:txBody>
      </p:sp>
      <p:sp>
        <p:nvSpPr>
          <p:cNvPr id="416" name="矩形: 圆角 91"/>
          <p:cNvSpPr/>
          <p:nvPr>
            <p:custDataLst>
              <p:tags r:id="rId9"/>
            </p:custDataLst>
          </p:nvPr>
        </p:nvSpPr>
        <p:spPr>
          <a:xfrm rot="283348">
            <a:off x="4843657" y="4618616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7" name="矩形: 圆角 168"/>
          <p:cNvSpPr/>
          <p:nvPr>
            <p:custDataLst>
              <p:tags r:id="rId10"/>
            </p:custDataLst>
          </p:nvPr>
        </p:nvSpPr>
        <p:spPr>
          <a:xfrm>
            <a:off x="4461235" y="4245735"/>
            <a:ext cx="3292241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8" name="TextBox 21"/>
          <p:cNvSpPr txBox="1"/>
          <p:nvPr>
            <p:custDataLst>
              <p:tags r:id="rId11"/>
            </p:custDataLst>
          </p:nvPr>
        </p:nvSpPr>
        <p:spPr>
          <a:xfrm>
            <a:off x="4635735" y="4996953"/>
            <a:ext cx="2943240" cy="52681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创新</a:t>
            </a:r>
            <a:r>
              <a:rPr lang="en-US" altLang="zh-CN" dirty="0">
                <a:latin typeface="+mn-ea"/>
                <a:ea typeface="+mn-ea"/>
              </a:rPr>
              <a:t>DSP</a:t>
            </a:r>
            <a:r>
              <a:rPr lang="zh-CN" altLang="en-US" dirty="0">
                <a:latin typeface="+mn-ea"/>
                <a:ea typeface="+mn-ea"/>
              </a:rPr>
              <a:t>复用结构四级流水乘法运算，实现单次双</a:t>
            </a:r>
            <a:r>
              <a:rPr lang="en-US" altLang="zh-CN" dirty="0">
                <a:latin typeface="+mn-ea"/>
                <a:ea typeface="+mn-ea"/>
              </a:rPr>
              <a:t>MAC</a:t>
            </a:r>
            <a:r>
              <a:rPr lang="zh-CN" altLang="en-US" dirty="0">
                <a:latin typeface="+mn-ea"/>
                <a:ea typeface="+mn-ea"/>
              </a:rPr>
              <a:t>运算，</a:t>
            </a:r>
            <a:r>
              <a:rPr lang="en-US" altLang="zh-CN" dirty="0">
                <a:latin typeface="+mn-ea"/>
                <a:ea typeface="+mn-ea"/>
              </a:rPr>
              <a:t>DSP</a:t>
            </a:r>
            <a:r>
              <a:rPr lang="zh-CN" altLang="en-US" dirty="0">
                <a:latin typeface="+mn-ea"/>
                <a:ea typeface="+mn-ea"/>
              </a:rPr>
              <a:t>资源占用降低</a:t>
            </a:r>
            <a:r>
              <a:rPr lang="en-US" altLang="zh-CN" dirty="0">
                <a:latin typeface="+mn-ea"/>
                <a:ea typeface="+mn-ea"/>
              </a:rPr>
              <a:t>50%</a:t>
            </a:r>
            <a:r>
              <a:rPr lang="zh-CN" altLang="en-US" dirty="0">
                <a:latin typeface="+mn-ea"/>
                <a:ea typeface="+mn-ea"/>
              </a:rPr>
              <a:t>，功耗下降</a:t>
            </a:r>
            <a:r>
              <a:rPr lang="en-US" altLang="zh-CN" dirty="0">
                <a:latin typeface="+mn-ea"/>
                <a:ea typeface="+mn-ea"/>
              </a:rPr>
              <a:t>80%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sp>
        <p:nvSpPr>
          <p:cNvPr id="419" name="直接连接符 17"/>
          <p:cNvSpPr/>
          <p:nvPr>
            <p:custDataLst>
              <p:tags r:id="rId12"/>
            </p:custDataLst>
          </p:nvPr>
        </p:nvSpPr>
        <p:spPr>
          <a:xfrm>
            <a:off x="5083276" y="4858256"/>
            <a:ext cx="1456548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TextBox 20"/>
          <p:cNvSpPr txBox="1"/>
          <p:nvPr>
            <p:custDataLst>
              <p:tags r:id="rId13"/>
            </p:custDataLst>
          </p:nvPr>
        </p:nvSpPr>
        <p:spPr>
          <a:xfrm>
            <a:off x="5275298" y="4521489"/>
            <a:ext cx="1394666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乘法器复用</a:t>
            </a:r>
          </a:p>
        </p:txBody>
      </p:sp>
      <p:sp>
        <p:nvSpPr>
          <p:cNvPr id="421" name="椭圆 19"/>
          <p:cNvSpPr/>
          <p:nvPr>
            <p:custDataLst>
              <p:tags r:id="rId14"/>
            </p:custDataLst>
          </p:nvPr>
        </p:nvSpPr>
        <p:spPr>
          <a:xfrm>
            <a:off x="4731615" y="4431858"/>
            <a:ext cx="472165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2" name="Object 800011"/>
          <p:cNvSpPr txBox="1"/>
          <p:nvPr>
            <p:custDataLst>
              <p:tags r:id="rId15"/>
            </p:custDataLst>
          </p:nvPr>
        </p:nvSpPr>
        <p:spPr>
          <a:xfrm>
            <a:off x="4774305" y="4492092"/>
            <a:ext cx="394236" cy="365357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02</a:t>
            </a:r>
          </a:p>
        </p:txBody>
      </p:sp>
      <p:sp>
        <p:nvSpPr>
          <p:cNvPr id="423" name="矩形: 圆角 92"/>
          <p:cNvSpPr/>
          <p:nvPr>
            <p:custDataLst>
              <p:tags r:id="rId16"/>
            </p:custDataLst>
          </p:nvPr>
        </p:nvSpPr>
        <p:spPr>
          <a:xfrm rot="283348">
            <a:off x="8544445" y="4618616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4" name="矩形: 圆角 188"/>
          <p:cNvSpPr/>
          <p:nvPr>
            <p:custDataLst>
              <p:tags r:id="rId17"/>
            </p:custDataLst>
          </p:nvPr>
        </p:nvSpPr>
        <p:spPr>
          <a:xfrm>
            <a:off x="8144057" y="4245735"/>
            <a:ext cx="3292242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5" name="TextBox 21"/>
          <p:cNvSpPr txBox="1"/>
          <p:nvPr>
            <p:custDataLst>
              <p:tags r:id="rId18"/>
            </p:custDataLst>
          </p:nvPr>
        </p:nvSpPr>
        <p:spPr>
          <a:xfrm>
            <a:off x="8467988" y="4962303"/>
            <a:ext cx="2704420" cy="75764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权重与激活均</a:t>
            </a:r>
            <a:r>
              <a:rPr lang="en-US" altLang="zh-CN" dirty="0">
                <a:latin typeface="+mn-ea"/>
                <a:ea typeface="+mn-ea"/>
              </a:rPr>
              <a:t>INT8</a:t>
            </a:r>
            <a:r>
              <a:rPr lang="zh-CN" altLang="en-US" dirty="0">
                <a:latin typeface="+mn-ea"/>
                <a:ea typeface="+mn-ea"/>
              </a:rPr>
              <a:t>量化，</a:t>
            </a:r>
            <a:r>
              <a:rPr lang="en-US" altLang="zh-CN" dirty="0">
                <a:latin typeface="+mn-ea"/>
                <a:ea typeface="+mn-ea"/>
              </a:rPr>
              <a:t>BN-Conv-</a:t>
            </a:r>
            <a:r>
              <a:rPr lang="en-US" altLang="zh-CN" dirty="0" err="1">
                <a:latin typeface="+mn-ea"/>
                <a:ea typeface="+mn-ea"/>
              </a:rPr>
              <a:t>ReLU</a:t>
            </a:r>
            <a:r>
              <a:rPr lang="zh-CN" altLang="en-US" dirty="0">
                <a:latin typeface="+mn-ea"/>
                <a:ea typeface="+mn-ea"/>
              </a:rPr>
              <a:t>算子融合为单计算单元，减少访存次数，提升片上数据复用率。</a:t>
            </a:r>
          </a:p>
        </p:txBody>
      </p:sp>
      <p:sp>
        <p:nvSpPr>
          <p:cNvPr id="426" name="直接连接符 24"/>
          <p:cNvSpPr/>
          <p:nvPr>
            <p:custDataLst>
              <p:tags r:id="rId19"/>
            </p:custDataLst>
          </p:nvPr>
        </p:nvSpPr>
        <p:spPr>
          <a:xfrm>
            <a:off x="8723469" y="4858256"/>
            <a:ext cx="1456548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7" name="TextBox 20"/>
          <p:cNvSpPr txBox="1"/>
          <p:nvPr>
            <p:custDataLst>
              <p:tags r:id="rId20"/>
            </p:custDataLst>
          </p:nvPr>
        </p:nvSpPr>
        <p:spPr>
          <a:xfrm>
            <a:off x="8943315" y="4521489"/>
            <a:ext cx="2109709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INT8</a:t>
            </a:r>
            <a:r>
              <a:rPr lang="zh-CN" altLang="en-US" dirty="0">
                <a:latin typeface="+mj-ea"/>
                <a:ea typeface="+mj-ea"/>
              </a:rPr>
              <a:t>量化</a:t>
            </a:r>
            <a:r>
              <a:rPr lang="en-US" altLang="zh-CN" dirty="0">
                <a:latin typeface="+mj-ea"/>
                <a:ea typeface="+mj-ea"/>
              </a:rPr>
              <a:t>/</a:t>
            </a:r>
            <a:r>
              <a:rPr lang="zh-CN" altLang="en-US" dirty="0">
                <a:latin typeface="+mj-ea"/>
                <a:ea typeface="+mj-ea"/>
              </a:rPr>
              <a:t>算子融合</a:t>
            </a:r>
          </a:p>
        </p:txBody>
      </p:sp>
      <p:sp>
        <p:nvSpPr>
          <p:cNvPr id="428" name="椭圆 26"/>
          <p:cNvSpPr/>
          <p:nvPr>
            <p:custDataLst>
              <p:tags r:id="rId21"/>
            </p:custDataLst>
          </p:nvPr>
        </p:nvSpPr>
        <p:spPr>
          <a:xfrm>
            <a:off x="8399633" y="4431858"/>
            <a:ext cx="472165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9" name="Object 800011"/>
          <p:cNvSpPr txBox="1"/>
          <p:nvPr>
            <p:custDataLst>
              <p:tags r:id="rId22"/>
            </p:custDataLst>
          </p:nvPr>
        </p:nvSpPr>
        <p:spPr>
          <a:xfrm>
            <a:off x="8418134" y="4492092"/>
            <a:ext cx="455535" cy="365357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03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CBD263BE-622A-12D6-2918-1271772DC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55971" y="1295705"/>
            <a:ext cx="8151992" cy="28785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9A7C-B2D4-A900-98EE-FAEB49C6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39C6814D-4D82-5821-A8D3-122D4919E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FD4CDC22-52C6-229A-B6D2-39C8BF659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C707D674-11B9-BB6D-3D97-2F18A2B907C7}"/>
              </a:ext>
            </a:extLst>
          </p:cNvPr>
          <p:cNvSpPr/>
          <p:nvPr/>
        </p:nvSpPr>
        <p:spPr>
          <a:xfrm>
            <a:off x="109057" y="59823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统一算子架构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3ECA2EB-F4AE-CA8B-134A-5A9548CF530E}"/>
              </a:ext>
            </a:extLst>
          </p:cNvPr>
          <p:cNvSpPr/>
          <p:nvPr/>
        </p:nvSpPr>
        <p:spPr>
          <a:xfrm>
            <a:off x="818788" y="556312"/>
            <a:ext cx="2147582" cy="72001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17C46FC-FB97-E67E-B59F-51FF0AAFF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50" y="884345"/>
            <a:ext cx="10683677" cy="5913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719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A590-9277-8AC4-4B2A-C20D39C3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4938511A-8E4D-4E70-6CE3-EED4698C6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E067FD50-5EE0-9D81-BD50-B7A2260B9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7BBF4B37-7C9F-9851-8B88-1552600B2F6F}"/>
              </a:ext>
            </a:extLst>
          </p:cNvPr>
          <p:cNvSpPr/>
          <p:nvPr/>
        </p:nvSpPr>
        <p:spPr>
          <a:xfrm>
            <a:off x="679508" y="46368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三级平面化控制架构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ECF447-43D3-DA9E-9DE6-520EC487CC14}"/>
              </a:ext>
            </a:extLst>
          </p:cNvPr>
          <p:cNvSpPr/>
          <p:nvPr/>
        </p:nvSpPr>
        <p:spPr>
          <a:xfrm>
            <a:off x="818787" y="556312"/>
            <a:ext cx="3234818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6A1356-0FC7-0A78-F57B-98D7A4A97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518" y="1388035"/>
            <a:ext cx="6017703" cy="4867241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0B36B0A5-B43D-D5BB-30BA-9A811E9409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1" y="1543575"/>
            <a:ext cx="5827295" cy="45582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934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9FED-076E-20A6-9937-DC45B9A8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B85E5330-8535-BD12-4F51-59514E10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E616D599-84AD-23FC-28F3-BE542D7FF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DFEEF5A6-9B01-6BBE-3077-10753782D44D}"/>
              </a:ext>
            </a:extLst>
          </p:cNvPr>
          <p:cNvSpPr/>
          <p:nvPr/>
        </p:nvSpPr>
        <p:spPr>
          <a:xfrm>
            <a:off x="251669" y="46368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多线程并发处理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93BF42-B82A-A74D-F96F-DD93E518D5FF}"/>
              </a:ext>
            </a:extLst>
          </p:cNvPr>
          <p:cNvSpPr/>
          <p:nvPr/>
        </p:nvSpPr>
        <p:spPr>
          <a:xfrm>
            <a:off x="796954" y="556312"/>
            <a:ext cx="2466363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BE5EBA-8A10-0FAD-0D20-9B5BA676C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790" y="2770308"/>
            <a:ext cx="8979436" cy="40876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181130-13EE-C915-37E4-AE0E2E199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875" y="690316"/>
            <a:ext cx="9620369" cy="19917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731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7DFD4-ADD9-60A7-7DB5-E0721DB3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F1011AB6-112E-20F7-9AA9-0CA37E3C6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89F3ECA1-C4F7-5ABC-B1E0-149CC4852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7EC9349C-C1D8-D41D-BF23-489A3460914A}"/>
              </a:ext>
            </a:extLst>
          </p:cNvPr>
          <p:cNvSpPr/>
          <p:nvPr/>
        </p:nvSpPr>
        <p:spPr>
          <a:xfrm>
            <a:off x="251669" y="46368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权重预存与排布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B1AF327-5E7D-8421-BB43-5B87F88BC634}"/>
              </a:ext>
            </a:extLst>
          </p:cNvPr>
          <p:cNvSpPr/>
          <p:nvPr/>
        </p:nvSpPr>
        <p:spPr>
          <a:xfrm>
            <a:off x="796954" y="556312"/>
            <a:ext cx="2466363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B959D8A7-C14C-88D3-E83E-E95F2EAA8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176" y="1241573"/>
            <a:ext cx="7438363" cy="5203944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4FA878A0-56A5-FA7D-44D3-E6D007EF18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0877" y="1081396"/>
            <a:ext cx="3676807" cy="53823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6629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D40A-1C39-0410-28BD-C238DD9D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CCD5E5D8-987C-3238-0373-10BAB47FE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BAC0499C-98ED-AD85-CF2D-D6C5DA27C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580C0E9F-CDCC-3916-79F7-8D368BAB21F9}"/>
              </a:ext>
            </a:extLst>
          </p:cNvPr>
          <p:cNvSpPr/>
          <p:nvPr/>
        </p:nvSpPr>
        <p:spPr>
          <a:xfrm>
            <a:off x="796954" y="39171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pPr algn="l"/>
            <a:r>
              <a:rPr lang="zh-CN" altLang="en-US" dirty="0">
                <a:latin typeface="+mj-ea"/>
                <a:ea typeface="+mj-ea"/>
              </a:rPr>
              <a:t>内核缓存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88A740-AA5F-CCEE-6810-FA92D772F025}"/>
              </a:ext>
            </a:extLst>
          </p:cNvPr>
          <p:cNvSpPr/>
          <p:nvPr/>
        </p:nvSpPr>
        <p:spPr>
          <a:xfrm>
            <a:off x="796955" y="556312"/>
            <a:ext cx="1417740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947CF6-265C-1CD3-5616-0B2865F88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37" y="781137"/>
            <a:ext cx="7425506" cy="60304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CB5BAD9-ACDF-726A-0797-B69CCDD47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5854" y="781137"/>
            <a:ext cx="3996238" cy="59468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25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699711" y="720000"/>
            <a:ext cx="4830678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突破传输瓶颈实测速率</a:t>
            </a:r>
            <a:r>
              <a:rPr lang="en-US" altLang="zh-CN" dirty="0">
                <a:latin typeface="+mj-ea"/>
                <a:ea typeface="+mj-ea"/>
              </a:rPr>
              <a:t>800MB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矩形 19"/>
          <p:cNvSpPr/>
          <p:nvPr/>
        </p:nvSpPr>
        <p:spPr>
          <a:xfrm rot="10800000">
            <a:off x="5098842" y="2016870"/>
            <a:ext cx="5828240" cy="3431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598" extrusionOk="0">
                <a:moveTo>
                  <a:pt x="399" y="0"/>
                </a:moveTo>
                <a:lnTo>
                  <a:pt x="13165" y="87"/>
                </a:lnTo>
                <a:cubicBezTo>
                  <a:pt x="13321" y="88"/>
                  <a:pt x="13461" y="194"/>
                  <a:pt x="13525" y="359"/>
                </a:cubicBezTo>
                <a:lnTo>
                  <a:pt x="21483" y="20953"/>
                </a:lnTo>
                <a:cubicBezTo>
                  <a:pt x="21600" y="21256"/>
                  <a:pt x="21408" y="21598"/>
                  <a:pt x="21121" y="21598"/>
                </a:cubicBezTo>
                <a:lnTo>
                  <a:pt x="396" y="21598"/>
                </a:lnTo>
                <a:cubicBezTo>
                  <a:pt x="178" y="21598"/>
                  <a:pt x="0" y="21393"/>
                  <a:pt x="0" y="21140"/>
                </a:cubicBezTo>
                <a:lnTo>
                  <a:pt x="0" y="457"/>
                </a:lnTo>
                <a:cubicBezTo>
                  <a:pt x="0" y="204"/>
                  <a:pt x="179" y="-2"/>
                  <a:pt x="399" y="0"/>
                </a:cubicBezTo>
              </a:path>
            </a:pathLst>
          </a:custGeom>
          <a:solidFill>
            <a:srgbClr val="FFFFFF"/>
          </a:solidFill>
          <a:ln w="12700">
            <a:solidFill>
              <a:srgbClr val="2A64E3"/>
            </a:solidFill>
            <a:miter/>
          </a:ln>
          <a:effectLst>
            <a:outerShdw blurRad="101600" dist="76200" dir="5400000" rotWithShape="0">
              <a:srgbClr val="354B59">
                <a:alpha val="1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15" name="TextBox 21"/>
          <p:cNvSpPr txBox="1"/>
          <p:nvPr/>
        </p:nvSpPr>
        <p:spPr>
          <a:xfrm>
            <a:off x="7510089" y="3122877"/>
            <a:ext cx="3113663" cy="167007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sz="1400" dirty="0">
                <a:latin typeface="+mn-ea"/>
                <a:ea typeface="+mn-ea"/>
              </a:rPr>
              <a:t>DMA</a:t>
            </a:r>
            <a:r>
              <a:rPr lang="zh-CN" altLang="en-US" sz="1400" dirty="0">
                <a:latin typeface="+mn-ea"/>
                <a:ea typeface="+mn-ea"/>
              </a:rPr>
              <a:t>引擎智能识别</a:t>
            </a:r>
            <a:r>
              <a:rPr lang="en-US" altLang="zh-CN" sz="1400" dirty="0">
                <a:latin typeface="+mn-ea"/>
                <a:ea typeface="+mn-ea"/>
              </a:rPr>
              <a:t>4K</a:t>
            </a:r>
            <a:r>
              <a:rPr lang="zh-CN" altLang="en-US" sz="1400" dirty="0">
                <a:latin typeface="+mn-ea"/>
                <a:ea typeface="+mn-ea"/>
              </a:rPr>
              <a:t>边界自动拆包，确保跨页传输不越界；双字对齐引擎消除非对齐访问惩罚，实测</a:t>
            </a:r>
            <a:r>
              <a:rPr lang="en-US" altLang="zh-CN" sz="1400" dirty="0">
                <a:latin typeface="+mn-ea"/>
                <a:ea typeface="+mn-ea"/>
              </a:rPr>
              <a:t>x2 lane</a:t>
            </a:r>
            <a:r>
              <a:rPr lang="zh-CN" altLang="en-US" sz="1400" dirty="0">
                <a:latin typeface="+mn-ea"/>
                <a:ea typeface="+mn-ea"/>
              </a:rPr>
              <a:t>稳跑</a:t>
            </a:r>
            <a:r>
              <a:rPr lang="en-US" altLang="zh-CN" sz="1400" dirty="0">
                <a:latin typeface="+mn-ea"/>
                <a:ea typeface="+mn-ea"/>
              </a:rPr>
              <a:t>800MB/s</a:t>
            </a:r>
            <a:r>
              <a:rPr lang="zh-CN" altLang="en-US" sz="1400" dirty="0">
                <a:latin typeface="+mn-ea"/>
                <a:ea typeface="+mn-ea"/>
              </a:rPr>
              <a:t>满带宽。</a:t>
            </a:r>
          </a:p>
        </p:txBody>
      </p:sp>
      <p:sp>
        <p:nvSpPr>
          <p:cNvPr id="818" name="直接连接符 12"/>
          <p:cNvSpPr/>
          <p:nvPr/>
        </p:nvSpPr>
        <p:spPr>
          <a:xfrm>
            <a:off x="7457634" y="2921827"/>
            <a:ext cx="3092407" cy="1"/>
          </a:xfrm>
          <a:prstGeom prst="line">
            <a:avLst/>
          </a:prstGeom>
          <a:ln w="6350">
            <a:solidFill>
              <a:srgbClr val="2A64E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9" name="任意多边形: 形状 56"/>
          <p:cNvSpPr/>
          <p:nvPr/>
        </p:nvSpPr>
        <p:spPr>
          <a:xfrm>
            <a:off x="10307696" y="4902036"/>
            <a:ext cx="619385" cy="546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49" y="0"/>
                </a:moveTo>
                <a:cubicBezTo>
                  <a:pt x="19706" y="0"/>
                  <a:pt x="20356" y="38"/>
                  <a:pt x="20997" y="112"/>
                </a:cubicBezTo>
                <a:lnTo>
                  <a:pt x="21600" y="216"/>
                </a:lnTo>
                <a:lnTo>
                  <a:pt x="21600" y="19590"/>
                </a:lnTo>
                <a:cubicBezTo>
                  <a:pt x="21600" y="20700"/>
                  <a:pt x="20807" y="21600"/>
                  <a:pt x="19828" y="21600"/>
                </a:cubicBezTo>
                <a:lnTo>
                  <a:pt x="0" y="21600"/>
                </a:lnTo>
                <a:cubicBezTo>
                  <a:pt x="0" y="9671"/>
                  <a:pt x="8528" y="0"/>
                  <a:pt x="19049" y="0"/>
                </a:cubicBezTo>
                <a:close/>
              </a:path>
            </a:pathLst>
          </a:custGeom>
          <a:solidFill>
            <a:srgbClr val="2A64E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0" name="矩形 19"/>
          <p:cNvSpPr/>
          <p:nvPr/>
        </p:nvSpPr>
        <p:spPr>
          <a:xfrm>
            <a:off x="1264921" y="2018391"/>
            <a:ext cx="5828239" cy="3431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598" extrusionOk="0">
                <a:moveTo>
                  <a:pt x="399" y="0"/>
                </a:moveTo>
                <a:lnTo>
                  <a:pt x="13165" y="87"/>
                </a:lnTo>
                <a:cubicBezTo>
                  <a:pt x="13321" y="88"/>
                  <a:pt x="13461" y="194"/>
                  <a:pt x="13525" y="359"/>
                </a:cubicBezTo>
                <a:lnTo>
                  <a:pt x="21483" y="20953"/>
                </a:lnTo>
                <a:cubicBezTo>
                  <a:pt x="21600" y="21256"/>
                  <a:pt x="21408" y="21598"/>
                  <a:pt x="21121" y="21598"/>
                </a:cubicBezTo>
                <a:lnTo>
                  <a:pt x="396" y="21598"/>
                </a:lnTo>
                <a:cubicBezTo>
                  <a:pt x="178" y="21598"/>
                  <a:pt x="0" y="21393"/>
                  <a:pt x="0" y="21140"/>
                </a:cubicBezTo>
                <a:lnTo>
                  <a:pt x="0" y="457"/>
                </a:lnTo>
                <a:cubicBezTo>
                  <a:pt x="0" y="204"/>
                  <a:pt x="179" y="-2"/>
                  <a:pt x="399" y="0"/>
                </a:cubicBezTo>
              </a:path>
            </a:pathLst>
          </a:custGeom>
          <a:gradFill>
            <a:gsLst>
              <a:gs pos="0">
                <a:srgbClr val="2A64E3"/>
              </a:gs>
              <a:gs pos="100000">
                <a:srgbClr val="E3EFF8"/>
              </a:gs>
            </a:gsLst>
            <a:lin ang="138497"/>
          </a:gradFill>
          <a:ln w="12700">
            <a:solidFill>
              <a:srgbClr val="BDDBE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1" name="TextBox 20"/>
          <p:cNvSpPr txBox="1"/>
          <p:nvPr/>
        </p:nvSpPr>
        <p:spPr>
          <a:xfrm>
            <a:off x="1653227" y="2499435"/>
            <a:ext cx="2340425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</a:rPr>
              <a:t>PCIe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协议层深度定制</a:t>
            </a:r>
          </a:p>
        </p:txBody>
      </p:sp>
      <p:sp>
        <p:nvSpPr>
          <p:cNvPr id="822" name="TextBox 21"/>
          <p:cNvSpPr txBox="1"/>
          <p:nvPr/>
        </p:nvSpPr>
        <p:spPr>
          <a:xfrm>
            <a:off x="1653227" y="3114488"/>
            <a:ext cx="3254333" cy="167007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sz="1400" dirty="0">
                <a:latin typeface="+mn-ea"/>
                <a:ea typeface="+mn-ea"/>
              </a:rPr>
              <a:t>重定义</a:t>
            </a:r>
            <a:r>
              <a:rPr lang="en-US" altLang="zh-CN" sz="1400" dirty="0">
                <a:latin typeface="+mn-ea"/>
                <a:ea typeface="+mn-ea"/>
              </a:rPr>
              <a:t>BAR2</a:t>
            </a:r>
            <a:r>
              <a:rPr lang="zh-CN" altLang="en-US" sz="1400" dirty="0">
                <a:latin typeface="+mn-ea"/>
                <a:ea typeface="+mn-ea"/>
              </a:rPr>
              <a:t>空间映射，新增</a:t>
            </a:r>
            <a:r>
              <a:rPr lang="en-US" altLang="zh-CN" sz="1400" dirty="0">
                <a:latin typeface="+mn-ea"/>
                <a:ea typeface="+mn-ea"/>
              </a:rPr>
              <a:t>0x1E0~0x250</a:t>
            </a:r>
            <a:r>
              <a:rPr lang="zh-CN" altLang="en-US" sz="1400" dirty="0">
                <a:latin typeface="+mn-ea"/>
                <a:ea typeface="+mn-ea"/>
              </a:rPr>
              <a:t>控制寄存器区，支持</a:t>
            </a:r>
            <a:r>
              <a:rPr lang="en-US" altLang="zh-CN" sz="1400" dirty="0">
                <a:latin typeface="+mn-ea"/>
                <a:ea typeface="+mn-ea"/>
              </a:rPr>
              <a:t>PIO</a:t>
            </a:r>
            <a:r>
              <a:rPr lang="zh-CN" altLang="en-US" sz="1400" dirty="0">
                <a:latin typeface="+mn-ea"/>
                <a:ea typeface="+mn-ea"/>
              </a:rPr>
              <a:t>配置与</a:t>
            </a:r>
            <a:r>
              <a:rPr lang="en-US" altLang="zh-CN" sz="1400" dirty="0">
                <a:latin typeface="+mn-ea"/>
                <a:ea typeface="+mn-ea"/>
              </a:rPr>
              <a:t>MSI</a:t>
            </a:r>
            <a:r>
              <a:rPr lang="zh-CN" altLang="en-US" sz="1400" dirty="0">
                <a:latin typeface="+mn-ea"/>
                <a:ea typeface="+mn-ea"/>
              </a:rPr>
              <a:t>中断，实现</a:t>
            </a:r>
            <a:r>
              <a:rPr lang="en-US" altLang="zh-CN" sz="1400" dirty="0">
                <a:latin typeface="+mn-ea"/>
                <a:ea typeface="+mn-ea"/>
              </a:rPr>
              <a:t>FPGA</a:t>
            </a:r>
            <a:r>
              <a:rPr lang="zh-CN" altLang="en-US" sz="1400" dirty="0">
                <a:latin typeface="+mn-ea"/>
                <a:ea typeface="+mn-ea"/>
              </a:rPr>
              <a:t>与</a:t>
            </a:r>
            <a:r>
              <a:rPr lang="en-US" altLang="zh-CN" sz="1400" dirty="0">
                <a:latin typeface="+mn-ea"/>
                <a:ea typeface="+mn-ea"/>
              </a:rPr>
              <a:t>ARM</a:t>
            </a:r>
            <a:r>
              <a:rPr lang="zh-CN" altLang="en-US" sz="1400" dirty="0">
                <a:latin typeface="+mn-ea"/>
                <a:ea typeface="+mn-ea"/>
              </a:rPr>
              <a:t>低延迟握手，传输效率较官方</a:t>
            </a:r>
            <a:r>
              <a:rPr lang="en-US" altLang="zh-CN" sz="1400" dirty="0">
                <a:latin typeface="+mn-ea"/>
                <a:ea typeface="+mn-ea"/>
              </a:rPr>
              <a:t>Demo</a:t>
            </a:r>
            <a:r>
              <a:rPr lang="zh-CN" altLang="en-US" sz="1400" dirty="0">
                <a:latin typeface="+mn-ea"/>
                <a:ea typeface="+mn-ea"/>
              </a:rPr>
              <a:t>提升</a:t>
            </a:r>
            <a:r>
              <a:rPr lang="en-US" altLang="zh-CN" sz="1400" dirty="0">
                <a:latin typeface="+mn-ea"/>
                <a:ea typeface="+mn-ea"/>
              </a:rPr>
              <a:t>3</a:t>
            </a:r>
            <a:r>
              <a:rPr lang="zh-CN" altLang="en-US" sz="1400" dirty="0">
                <a:latin typeface="+mn-ea"/>
                <a:ea typeface="+mn-ea"/>
              </a:rPr>
              <a:t>倍以上。</a:t>
            </a:r>
          </a:p>
        </p:txBody>
      </p:sp>
      <p:sp>
        <p:nvSpPr>
          <p:cNvPr id="826" name="直接连接符 20"/>
          <p:cNvSpPr/>
          <p:nvPr/>
        </p:nvSpPr>
        <p:spPr>
          <a:xfrm>
            <a:off x="1607507" y="2921827"/>
            <a:ext cx="3092407" cy="1"/>
          </a:xfrm>
          <a:prstGeom prst="line">
            <a:avLst/>
          </a:prstGeom>
          <a:ln w="6350">
            <a:solidFill>
              <a:srgbClr val="FFFFFF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7" name="任意多边形: 形状 57"/>
          <p:cNvSpPr/>
          <p:nvPr/>
        </p:nvSpPr>
        <p:spPr>
          <a:xfrm rot="10800000">
            <a:off x="1293314" y="2042677"/>
            <a:ext cx="619386" cy="546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49" y="0"/>
                </a:moveTo>
                <a:cubicBezTo>
                  <a:pt x="19706" y="0"/>
                  <a:pt x="20356" y="38"/>
                  <a:pt x="20997" y="112"/>
                </a:cubicBezTo>
                <a:lnTo>
                  <a:pt x="21600" y="216"/>
                </a:lnTo>
                <a:lnTo>
                  <a:pt x="21600" y="19590"/>
                </a:lnTo>
                <a:cubicBezTo>
                  <a:pt x="21600" y="20700"/>
                  <a:pt x="20807" y="21600"/>
                  <a:pt x="19828" y="21600"/>
                </a:cubicBezTo>
                <a:lnTo>
                  <a:pt x="0" y="21600"/>
                </a:lnTo>
                <a:cubicBezTo>
                  <a:pt x="0" y="9671"/>
                  <a:pt x="8528" y="0"/>
                  <a:pt x="1904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8" name="TextBox 20"/>
          <p:cNvSpPr txBox="1"/>
          <p:nvPr/>
        </p:nvSpPr>
        <p:spPr>
          <a:xfrm>
            <a:off x="7478617" y="2499435"/>
            <a:ext cx="2501577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4K</a:t>
            </a:r>
            <a:r>
              <a:rPr lang="zh-CN" altLang="en-US" dirty="0">
                <a:latin typeface="+mj-ea"/>
                <a:ea typeface="+mj-ea"/>
              </a:rPr>
              <a:t>自动拆包与</a:t>
            </a:r>
            <a:r>
              <a:rPr lang="en-US" altLang="zh-CN" dirty="0">
                <a:latin typeface="+mj-ea"/>
                <a:ea typeface="+mj-ea"/>
              </a:rPr>
              <a:t>DW</a:t>
            </a:r>
            <a:r>
              <a:rPr lang="zh-CN" altLang="en-US" dirty="0">
                <a:latin typeface="+mj-ea"/>
                <a:ea typeface="+mj-ea"/>
              </a:rPr>
              <a:t>对齐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738806" y="717791"/>
            <a:ext cx="4714388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数据不落地</a:t>
            </a:r>
            <a:r>
              <a:rPr lang="en-US" altLang="zh-CN" dirty="0">
                <a:latin typeface="HarmonyOS Sans SC Black" panose="00000A00000000000000" charset="-122"/>
                <a:ea typeface="HarmonyOS Sans SC Black" panose="00000A00000000000000" charset="-122"/>
              </a:rPr>
              <a:t>CPU</a:t>
            </a:r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不搬运零拷贝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矩形: 圆角 288"/>
          <p:cNvSpPr/>
          <p:nvPr/>
        </p:nvSpPr>
        <p:spPr>
          <a:xfrm>
            <a:off x="1615439" y="4016812"/>
            <a:ext cx="4380698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6" name="矩形: 圆角 289"/>
          <p:cNvSpPr/>
          <p:nvPr/>
        </p:nvSpPr>
        <p:spPr>
          <a:xfrm>
            <a:off x="6195864" y="4016812"/>
            <a:ext cx="4380697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7" name="矩形: 圆角 252"/>
          <p:cNvSpPr/>
          <p:nvPr/>
        </p:nvSpPr>
        <p:spPr>
          <a:xfrm>
            <a:off x="1615439" y="1988840"/>
            <a:ext cx="4380698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8" name="矩形: 圆角 253"/>
          <p:cNvSpPr/>
          <p:nvPr/>
        </p:nvSpPr>
        <p:spPr>
          <a:xfrm>
            <a:off x="6195864" y="1988840"/>
            <a:ext cx="4380697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9" name="圆: 空心 103"/>
          <p:cNvSpPr/>
          <p:nvPr/>
        </p:nvSpPr>
        <p:spPr>
          <a:xfrm>
            <a:off x="5021331" y="2803235"/>
            <a:ext cx="2124472" cy="21244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682" y="10800"/>
                </a:moveTo>
                <a:cubicBezTo>
                  <a:pt x="3682" y="14731"/>
                  <a:pt x="6869" y="17918"/>
                  <a:pt x="10800" y="17918"/>
                </a:cubicBezTo>
                <a:cubicBezTo>
                  <a:pt x="14731" y="17918"/>
                  <a:pt x="17918" y="14731"/>
                  <a:pt x="17918" y="10800"/>
                </a:cubicBezTo>
                <a:cubicBezTo>
                  <a:pt x="17918" y="6869"/>
                  <a:pt x="14731" y="3682"/>
                  <a:pt x="10800" y="3682"/>
                </a:cubicBezTo>
                <a:cubicBezTo>
                  <a:pt x="6869" y="3682"/>
                  <a:pt x="3682" y="6869"/>
                  <a:pt x="3682" y="10800"/>
                </a:cubicBezTo>
                <a:close/>
              </a:path>
            </a:pathLst>
          </a:custGeom>
          <a:solidFill>
            <a:srgbClr val="E3EF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0" name="椭圆 10"/>
          <p:cNvSpPr/>
          <p:nvPr/>
        </p:nvSpPr>
        <p:spPr>
          <a:xfrm>
            <a:off x="5194055" y="2975960"/>
            <a:ext cx="1779021" cy="1779021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254000" dist="190500" dir="2700000" rotWithShape="0">
              <a:srgbClr val="BFA376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1" name="文本框 11"/>
          <p:cNvSpPr txBox="1"/>
          <p:nvPr/>
        </p:nvSpPr>
        <p:spPr>
          <a:xfrm>
            <a:off x="5375027" y="3405702"/>
            <a:ext cx="1389648" cy="95410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r>
              <a:rPr lang="zh-CN" altLang="en-US" dirty="0">
                <a:latin typeface="+mj-ea"/>
                <a:ea typeface="+mj-ea"/>
              </a:rPr>
              <a:t>三线程处理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62" name="文本框 12"/>
          <p:cNvSpPr txBox="1"/>
          <p:nvPr/>
        </p:nvSpPr>
        <p:spPr>
          <a:xfrm>
            <a:off x="1990235" y="2710758"/>
            <a:ext cx="2980835" cy="89069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DMA</a:t>
            </a:r>
            <a:r>
              <a:rPr lang="zh-CN" altLang="en-US" dirty="0">
                <a:latin typeface="+mn-ea"/>
                <a:ea typeface="+mn-ea"/>
              </a:rPr>
              <a:t>直写零拷贝：</a:t>
            </a:r>
            <a:r>
              <a:rPr lang="en-US" altLang="zh-CN" dirty="0">
                <a:latin typeface="+mn-ea"/>
                <a:ea typeface="+mn-ea"/>
              </a:rPr>
              <a:t>FPGA DMA</a:t>
            </a:r>
            <a:r>
              <a:rPr lang="zh-CN" altLang="en-US" dirty="0">
                <a:latin typeface="+mn-ea"/>
                <a:ea typeface="+mn-ea"/>
              </a:rPr>
              <a:t>引擎将图像帧直写内核缓冲区，绕过用户空间拷贝，消除传统</a:t>
            </a:r>
            <a:r>
              <a:rPr lang="en-US" altLang="zh-CN" dirty="0">
                <a:latin typeface="+mn-ea"/>
                <a:ea typeface="+mn-ea"/>
              </a:rPr>
              <a:t>V4L2</a:t>
            </a:r>
            <a:r>
              <a:rPr lang="zh-CN" altLang="en-US" dirty="0">
                <a:latin typeface="+mn-ea"/>
                <a:ea typeface="+mn-ea"/>
              </a:rPr>
              <a:t>两次数据搬运开销。</a:t>
            </a:r>
          </a:p>
        </p:txBody>
      </p:sp>
      <p:sp>
        <p:nvSpPr>
          <p:cNvPr id="363" name="文本框 13"/>
          <p:cNvSpPr txBox="1"/>
          <p:nvPr/>
        </p:nvSpPr>
        <p:spPr>
          <a:xfrm>
            <a:off x="2432754" y="2289211"/>
            <a:ext cx="1306052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采集→内存</a:t>
            </a:r>
          </a:p>
        </p:txBody>
      </p:sp>
      <p:sp>
        <p:nvSpPr>
          <p:cNvPr id="364" name="椭圆 14"/>
          <p:cNvSpPr/>
          <p:nvPr/>
        </p:nvSpPr>
        <p:spPr>
          <a:xfrm>
            <a:off x="1936009" y="2252727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5" name="图形 89"/>
          <p:cNvSpPr/>
          <p:nvPr/>
        </p:nvSpPr>
        <p:spPr>
          <a:xfrm>
            <a:off x="1999251" y="2315970"/>
            <a:ext cx="193745" cy="193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600" extrusionOk="0">
                <a:moveTo>
                  <a:pt x="10807" y="7746"/>
                </a:moveTo>
                <a:cubicBezTo>
                  <a:pt x="9112" y="7746"/>
                  <a:pt x="7737" y="9125"/>
                  <a:pt x="7737" y="10824"/>
                </a:cubicBezTo>
                <a:cubicBezTo>
                  <a:pt x="7737" y="12524"/>
                  <a:pt x="9112" y="13903"/>
                  <a:pt x="10807" y="13903"/>
                </a:cubicBezTo>
                <a:cubicBezTo>
                  <a:pt x="12502" y="13903"/>
                  <a:pt x="13877" y="12524"/>
                  <a:pt x="13877" y="10824"/>
                </a:cubicBezTo>
                <a:cubicBezTo>
                  <a:pt x="13870" y="9125"/>
                  <a:pt x="12495" y="7746"/>
                  <a:pt x="10807" y="7746"/>
                </a:cubicBezTo>
                <a:close/>
                <a:moveTo>
                  <a:pt x="10807" y="12503"/>
                </a:moveTo>
                <a:cubicBezTo>
                  <a:pt x="9883" y="12503"/>
                  <a:pt x="9133" y="11751"/>
                  <a:pt x="9133" y="10824"/>
                </a:cubicBezTo>
                <a:cubicBezTo>
                  <a:pt x="9133" y="9898"/>
                  <a:pt x="9883" y="9146"/>
                  <a:pt x="10807" y="9146"/>
                </a:cubicBezTo>
                <a:cubicBezTo>
                  <a:pt x="11731" y="9146"/>
                  <a:pt x="12481" y="9898"/>
                  <a:pt x="12481" y="10824"/>
                </a:cubicBezTo>
                <a:cubicBezTo>
                  <a:pt x="12481" y="11751"/>
                  <a:pt x="11731" y="12503"/>
                  <a:pt x="10807" y="12503"/>
                </a:cubicBezTo>
                <a:close/>
                <a:moveTo>
                  <a:pt x="20899" y="10121"/>
                </a:moveTo>
                <a:lnTo>
                  <a:pt x="20155" y="10121"/>
                </a:lnTo>
                <a:cubicBezTo>
                  <a:pt x="20079" y="9097"/>
                  <a:pt x="19843" y="8108"/>
                  <a:pt x="19447" y="7161"/>
                </a:cubicBezTo>
                <a:cubicBezTo>
                  <a:pt x="18975" y="6039"/>
                  <a:pt x="18301" y="5036"/>
                  <a:pt x="17440" y="4172"/>
                </a:cubicBezTo>
                <a:cubicBezTo>
                  <a:pt x="16579" y="3309"/>
                  <a:pt x="15578" y="2633"/>
                  <a:pt x="14460" y="2159"/>
                </a:cubicBezTo>
                <a:cubicBezTo>
                  <a:pt x="13516" y="1762"/>
                  <a:pt x="12522" y="1518"/>
                  <a:pt x="11501" y="1449"/>
                </a:cubicBezTo>
                <a:lnTo>
                  <a:pt x="11501" y="697"/>
                </a:lnTo>
                <a:cubicBezTo>
                  <a:pt x="11501" y="313"/>
                  <a:pt x="11189" y="0"/>
                  <a:pt x="10807" y="0"/>
                </a:cubicBezTo>
                <a:cubicBezTo>
                  <a:pt x="10425" y="0"/>
                  <a:pt x="10112" y="313"/>
                  <a:pt x="10112" y="697"/>
                </a:cubicBezTo>
                <a:lnTo>
                  <a:pt x="10112" y="1442"/>
                </a:lnTo>
                <a:cubicBezTo>
                  <a:pt x="9091" y="1518"/>
                  <a:pt x="8105" y="1755"/>
                  <a:pt x="7161" y="2152"/>
                </a:cubicBezTo>
                <a:cubicBezTo>
                  <a:pt x="6042" y="2633"/>
                  <a:pt x="5035" y="3309"/>
                  <a:pt x="4174" y="4172"/>
                </a:cubicBezTo>
                <a:cubicBezTo>
                  <a:pt x="3313" y="5036"/>
                  <a:pt x="2639" y="6046"/>
                  <a:pt x="2167" y="7161"/>
                </a:cubicBezTo>
                <a:cubicBezTo>
                  <a:pt x="1771" y="8108"/>
                  <a:pt x="1528" y="9097"/>
                  <a:pt x="1459" y="10121"/>
                </a:cubicBezTo>
                <a:lnTo>
                  <a:pt x="695" y="10121"/>
                </a:lnTo>
                <a:cubicBezTo>
                  <a:pt x="313" y="10121"/>
                  <a:pt x="0" y="10434"/>
                  <a:pt x="0" y="10817"/>
                </a:cubicBezTo>
                <a:cubicBezTo>
                  <a:pt x="0" y="11201"/>
                  <a:pt x="313" y="11514"/>
                  <a:pt x="695" y="11514"/>
                </a:cubicBezTo>
                <a:lnTo>
                  <a:pt x="1459" y="11514"/>
                </a:lnTo>
                <a:cubicBezTo>
                  <a:pt x="1535" y="12538"/>
                  <a:pt x="1771" y="13527"/>
                  <a:pt x="2167" y="14474"/>
                </a:cubicBezTo>
                <a:cubicBezTo>
                  <a:pt x="2639" y="15596"/>
                  <a:pt x="3313" y="16599"/>
                  <a:pt x="4174" y="17462"/>
                </a:cubicBezTo>
                <a:cubicBezTo>
                  <a:pt x="5035" y="18326"/>
                  <a:pt x="6036" y="19002"/>
                  <a:pt x="7154" y="19476"/>
                </a:cubicBezTo>
                <a:cubicBezTo>
                  <a:pt x="8098" y="19873"/>
                  <a:pt x="9085" y="20116"/>
                  <a:pt x="10106" y="20186"/>
                </a:cubicBezTo>
                <a:lnTo>
                  <a:pt x="10106" y="20903"/>
                </a:lnTo>
                <a:cubicBezTo>
                  <a:pt x="10106" y="21287"/>
                  <a:pt x="10418" y="21600"/>
                  <a:pt x="10800" y="21600"/>
                </a:cubicBezTo>
                <a:cubicBezTo>
                  <a:pt x="11182" y="21600"/>
                  <a:pt x="11495" y="21287"/>
                  <a:pt x="11495" y="20903"/>
                </a:cubicBezTo>
                <a:lnTo>
                  <a:pt x="11495" y="20200"/>
                </a:lnTo>
                <a:cubicBezTo>
                  <a:pt x="12516" y="20123"/>
                  <a:pt x="13502" y="19886"/>
                  <a:pt x="14446" y="19489"/>
                </a:cubicBezTo>
                <a:cubicBezTo>
                  <a:pt x="15565" y="19016"/>
                  <a:pt x="16565" y="18340"/>
                  <a:pt x="17426" y="17476"/>
                </a:cubicBezTo>
                <a:cubicBezTo>
                  <a:pt x="18287" y="16613"/>
                  <a:pt x="18961" y="15610"/>
                  <a:pt x="19433" y="14488"/>
                </a:cubicBezTo>
                <a:cubicBezTo>
                  <a:pt x="19829" y="13541"/>
                  <a:pt x="20072" y="12552"/>
                  <a:pt x="20142" y="11528"/>
                </a:cubicBezTo>
                <a:lnTo>
                  <a:pt x="20885" y="11528"/>
                </a:lnTo>
                <a:cubicBezTo>
                  <a:pt x="21267" y="11528"/>
                  <a:pt x="21579" y="11214"/>
                  <a:pt x="21579" y="10831"/>
                </a:cubicBezTo>
                <a:cubicBezTo>
                  <a:pt x="21600" y="10434"/>
                  <a:pt x="21288" y="10121"/>
                  <a:pt x="20899" y="10121"/>
                </a:cubicBezTo>
                <a:close/>
                <a:moveTo>
                  <a:pt x="11501" y="18793"/>
                </a:moveTo>
                <a:lnTo>
                  <a:pt x="11501" y="17163"/>
                </a:lnTo>
                <a:cubicBezTo>
                  <a:pt x="11501" y="16780"/>
                  <a:pt x="11189" y="16466"/>
                  <a:pt x="10807" y="16466"/>
                </a:cubicBezTo>
                <a:cubicBezTo>
                  <a:pt x="10425" y="16466"/>
                  <a:pt x="10112" y="16780"/>
                  <a:pt x="10112" y="17163"/>
                </a:cubicBezTo>
                <a:lnTo>
                  <a:pt x="10112" y="18793"/>
                </a:lnTo>
                <a:cubicBezTo>
                  <a:pt x="6265" y="18459"/>
                  <a:pt x="3188" y="15380"/>
                  <a:pt x="2854" y="11521"/>
                </a:cubicBezTo>
                <a:lnTo>
                  <a:pt x="4556" y="11521"/>
                </a:lnTo>
                <a:cubicBezTo>
                  <a:pt x="4938" y="11521"/>
                  <a:pt x="5251" y="11207"/>
                  <a:pt x="5251" y="10824"/>
                </a:cubicBezTo>
                <a:cubicBezTo>
                  <a:pt x="5251" y="10441"/>
                  <a:pt x="4938" y="10128"/>
                  <a:pt x="4556" y="10128"/>
                </a:cubicBezTo>
                <a:lnTo>
                  <a:pt x="2854" y="10128"/>
                </a:lnTo>
                <a:cubicBezTo>
                  <a:pt x="3188" y="6276"/>
                  <a:pt x="6258" y="3190"/>
                  <a:pt x="10105" y="2856"/>
                </a:cubicBezTo>
                <a:lnTo>
                  <a:pt x="10105" y="4430"/>
                </a:lnTo>
                <a:cubicBezTo>
                  <a:pt x="10105" y="4813"/>
                  <a:pt x="10418" y="5127"/>
                  <a:pt x="10800" y="5127"/>
                </a:cubicBezTo>
                <a:cubicBezTo>
                  <a:pt x="11182" y="5127"/>
                  <a:pt x="11494" y="4813"/>
                  <a:pt x="11494" y="4430"/>
                </a:cubicBezTo>
                <a:lnTo>
                  <a:pt x="11494" y="2849"/>
                </a:lnTo>
                <a:cubicBezTo>
                  <a:pt x="15349" y="3183"/>
                  <a:pt x="18419" y="6269"/>
                  <a:pt x="18752" y="10121"/>
                </a:cubicBezTo>
                <a:lnTo>
                  <a:pt x="17044" y="10121"/>
                </a:lnTo>
                <a:cubicBezTo>
                  <a:pt x="16662" y="10121"/>
                  <a:pt x="16349" y="10434"/>
                  <a:pt x="16349" y="10817"/>
                </a:cubicBezTo>
                <a:cubicBezTo>
                  <a:pt x="16349" y="11201"/>
                  <a:pt x="16662" y="11514"/>
                  <a:pt x="17044" y="11514"/>
                </a:cubicBezTo>
                <a:lnTo>
                  <a:pt x="18752" y="11514"/>
                </a:lnTo>
                <a:cubicBezTo>
                  <a:pt x="18419" y="15380"/>
                  <a:pt x="15349" y="18459"/>
                  <a:pt x="11501" y="1879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6" name="文本框 17"/>
          <p:cNvSpPr txBox="1"/>
          <p:nvPr/>
        </p:nvSpPr>
        <p:spPr>
          <a:xfrm>
            <a:off x="1990236" y="4668427"/>
            <a:ext cx="2980833" cy="88953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NPU</a:t>
            </a:r>
            <a:r>
              <a:rPr lang="zh-CN" altLang="en-US" dirty="0">
                <a:latin typeface="+mn-ea"/>
                <a:ea typeface="+mn-ea"/>
              </a:rPr>
              <a:t>动态批处理：</a:t>
            </a:r>
            <a:r>
              <a:rPr lang="en-US" altLang="zh-CN" dirty="0">
                <a:latin typeface="+mn-ea"/>
                <a:ea typeface="+mn-ea"/>
              </a:rPr>
              <a:t>RK3568 NPU</a:t>
            </a:r>
            <a:r>
              <a:rPr lang="zh-CN" altLang="en-US" dirty="0">
                <a:latin typeface="+mn-ea"/>
                <a:ea typeface="+mn-ea"/>
              </a:rPr>
              <a:t>支持单图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zh-CN" altLang="en-US" dirty="0">
                <a:latin typeface="+mn-ea"/>
                <a:ea typeface="+mn-ea"/>
              </a:rPr>
              <a:t>多图模式平滑切换，根据负载自适应调整批大小，吞吐量与延迟动态平衡。</a:t>
            </a:r>
          </a:p>
        </p:txBody>
      </p:sp>
      <p:sp>
        <p:nvSpPr>
          <p:cNvPr id="367" name="文本框 18"/>
          <p:cNvSpPr txBox="1"/>
          <p:nvPr/>
        </p:nvSpPr>
        <p:spPr>
          <a:xfrm>
            <a:off x="2432754" y="4246879"/>
            <a:ext cx="1008394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推理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68" name="椭圆 19"/>
          <p:cNvSpPr/>
          <p:nvPr/>
        </p:nvSpPr>
        <p:spPr>
          <a:xfrm>
            <a:off x="1936009" y="4210396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9" name="任意多边形: 形状 239"/>
          <p:cNvSpPr/>
          <p:nvPr/>
        </p:nvSpPr>
        <p:spPr>
          <a:xfrm>
            <a:off x="1988209" y="4295847"/>
            <a:ext cx="215829" cy="149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30" y="2230"/>
                </a:moveTo>
                <a:lnTo>
                  <a:pt x="772" y="2230"/>
                </a:lnTo>
                <a:cubicBezTo>
                  <a:pt x="346" y="2230"/>
                  <a:pt x="0" y="1731"/>
                  <a:pt x="0" y="1115"/>
                </a:cubicBezTo>
                <a:cubicBezTo>
                  <a:pt x="0" y="499"/>
                  <a:pt x="346" y="0"/>
                  <a:pt x="772" y="0"/>
                </a:cubicBezTo>
                <a:lnTo>
                  <a:pt x="4230" y="0"/>
                </a:lnTo>
                <a:cubicBezTo>
                  <a:pt x="4656" y="0"/>
                  <a:pt x="5002" y="499"/>
                  <a:pt x="5002" y="1115"/>
                </a:cubicBezTo>
                <a:cubicBezTo>
                  <a:pt x="5002" y="1731"/>
                  <a:pt x="4656" y="2230"/>
                  <a:pt x="4230" y="2230"/>
                </a:cubicBezTo>
                <a:close/>
                <a:moveTo>
                  <a:pt x="4230" y="8539"/>
                </a:moveTo>
                <a:lnTo>
                  <a:pt x="2848" y="8539"/>
                </a:lnTo>
                <a:cubicBezTo>
                  <a:pt x="2421" y="8539"/>
                  <a:pt x="2076" y="8040"/>
                  <a:pt x="2076" y="7424"/>
                </a:cubicBezTo>
                <a:cubicBezTo>
                  <a:pt x="2076" y="6808"/>
                  <a:pt x="2421" y="6309"/>
                  <a:pt x="2848" y="6309"/>
                </a:cubicBezTo>
                <a:lnTo>
                  <a:pt x="4230" y="6309"/>
                </a:lnTo>
                <a:cubicBezTo>
                  <a:pt x="4656" y="6309"/>
                  <a:pt x="5002" y="6808"/>
                  <a:pt x="5002" y="7424"/>
                </a:cubicBezTo>
                <a:cubicBezTo>
                  <a:pt x="5002" y="8040"/>
                  <a:pt x="4656" y="8539"/>
                  <a:pt x="4230" y="8539"/>
                </a:cubicBezTo>
                <a:close/>
                <a:moveTo>
                  <a:pt x="4230" y="21160"/>
                </a:moveTo>
                <a:lnTo>
                  <a:pt x="772" y="21160"/>
                </a:lnTo>
                <a:cubicBezTo>
                  <a:pt x="346" y="21160"/>
                  <a:pt x="0" y="20661"/>
                  <a:pt x="0" y="20045"/>
                </a:cubicBezTo>
                <a:cubicBezTo>
                  <a:pt x="0" y="19429"/>
                  <a:pt x="346" y="18930"/>
                  <a:pt x="772" y="18930"/>
                </a:cubicBezTo>
                <a:lnTo>
                  <a:pt x="4230" y="18930"/>
                </a:lnTo>
                <a:cubicBezTo>
                  <a:pt x="4656" y="18930"/>
                  <a:pt x="5002" y="19429"/>
                  <a:pt x="5002" y="20045"/>
                </a:cubicBezTo>
                <a:cubicBezTo>
                  <a:pt x="5002" y="20661"/>
                  <a:pt x="4656" y="21160"/>
                  <a:pt x="4230" y="21160"/>
                </a:cubicBezTo>
                <a:close/>
                <a:moveTo>
                  <a:pt x="4230" y="14851"/>
                </a:moveTo>
                <a:lnTo>
                  <a:pt x="2848" y="14851"/>
                </a:lnTo>
                <a:cubicBezTo>
                  <a:pt x="2421" y="14851"/>
                  <a:pt x="2076" y="14352"/>
                  <a:pt x="2076" y="13736"/>
                </a:cubicBezTo>
                <a:cubicBezTo>
                  <a:pt x="2076" y="13120"/>
                  <a:pt x="2421" y="12621"/>
                  <a:pt x="2848" y="12621"/>
                </a:cubicBezTo>
                <a:lnTo>
                  <a:pt x="4230" y="12621"/>
                </a:lnTo>
                <a:cubicBezTo>
                  <a:pt x="4656" y="12621"/>
                  <a:pt x="5002" y="13120"/>
                  <a:pt x="5002" y="13736"/>
                </a:cubicBezTo>
                <a:cubicBezTo>
                  <a:pt x="5002" y="14352"/>
                  <a:pt x="4656" y="14851"/>
                  <a:pt x="4230" y="14851"/>
                </a:cubicBezTo>
                <a:close/>
                <a:moveTo>
                  <a:pt x="20828" y="2230"/>
                </a:moveTo>
                <a:lnTo>
                  <a:pt x="17370" y="2230"/>
                </a:lnTo>
                <a:cubicBezTo>
                  <a:pt x="16944" y="2230"/>
                  <a:pt x="16598" y="1731"/>
                  <a:pt x="16598" y="1115"/>
                </a:cubicBezTo>
                <a:cubicBezTo>
                  <a:pt x="16598" y="499"/>
                  <a:pt x="16944" y="0"/>
                  <a:pt x="17370" y="0"/>
                </a:cubicBezTo>
                <a:lnTo>
                  <a:pt x="20828" y="0"/>
                </a:lnTo>
                <a:cubicBezTo>
                  <a:pt x="21254" y="0"/>
                  <a:pt x="21600" y="499"/>
                  <a:pt x="21600" y="1115"/>
                </a:cubicBezTo>
                <a:cubicBezTo>
                  <a:pt x="21600" y="1731"/>
                  <a:pt x="21254" y="2230"/>
                  <a:pt x="20828" y="2230"/>
                </a:cubicBezTo>
                <a:close/>
                <a:moveTo>
                  <a:pt x="18743" y="8539"/>
                </a:moveTo>
                <a:lnTo>
                  <a:pt x="17361" y="8539"/>
                </a:lnTo>
                <a:cubicBezTo>
                  <a:pt x="16935" y="8539"/>
                  <a:pt x="16589" y="8040"/>
                  <a:pt x="16589" y="7424"/>
                </a:cubicBezTo>
                <a:cubicBezTo>
                  <a:pt x="16589" y="6808"/>
                  <a:pt x="16935" y="6309"/>
                  <a:pt x="17361" y="6309"/>
                </a:cubicBezTo>
                <a:lnTo>
                  <a:pt x="18743" y="6309"/>
                </a:lnTo>
                <a:cubicBezTo>
                  <a:pt x="19169" y="6309"/>
                  <a:pt x="19515" y="6808"/>
                  <a:pt x="19515" y="7424"/>
                </a:cubicBezTo>
                <a:cubicBezTo>
                  <a:pt x="19515" y="8040"/>
                  <a:pt x="19169" y="8539"/>
                  <a:pt x="18743" y="8539"/>
                </a:cubicBezTo>
                <a:close/>
                <a:moveTo>
                  <a:pt x="20828" y="21160"/>
                </a:moveTo>
                <a:lnTo>
                  <a:pt x="17370" y="21160"/>
                </a:lnTo>
                <a:cubicBezTo>
                  <a:pt x="16944" y="21160"/>
                  <a:pt x="16598" y="20661"/>
                  <a:pt x="16598" y="20045"/>
                </a:cubicBezTo>
                <a:cubicBezTo>
                  <a:pt x="16598" y="19429"/>
                  <a:pt x="16944" y="18930"/>
                  <a:pt x="17370" y="18930"/>
                </a:cubicBezTo>
                <a:lnTo>
                  <a:pt x="20828" y="18930"/>
                </a:lnTo>
                <a:cubicBezTo>
                  <a:pt x="21254" y="18930"/>
                  <a:pt x="21600" y="19429"/>
                  <a:pt x="21600" y="20045"/>
                </a:cubicBezTo>
                <a:cubicBezTo>
                  <a:pt x="21600" y="20661"/>
                  <a:pt x="21254" y="21160"/>
                  <a:pt x="20828" y="21160"/>
                </a:cubicBezTo>
                <a:close/>
                <a:moveTo>
                  <a:pt x="18743" y="14851"/>
                </a:moveTo>
                <a:lnTo>
                  <a:pt x="17361" y="14851"/>
                </a:lnTo>
                <a:cubicBezTo>
                  <a:pt x="16935" y="14851"/>
                  <a:pt x="16589" y="14352"/>
                  <a:pt x="16589" y="13736"/>
                </a:cubicBezTo>
                <a:cubicBezTo>
                  <a:pt x="16589" y="13120"/>
                  <a:pt x="16935" y="12621"/>
                  <a:pt x="17361" y="12621"/>
                </a:cubicBezTo>
                <a:lnTo>
                  <a:pt x="18743" y="12621"/>
                </a:lnTo>
                <a:cubicBezTo>
                  <a:pt x="19169" y="12621"/>
                  <a:pt x="19515" y="13120"/>
                  <a:pt x="19515" y="13736"/>
                </a:cubicBezTo>
                <a:cubicBezTo>
                  <a:pt x="19515" y="14352"/>
                  <a:pt x="19169" y="14851"/>
                  <a:pt x="18743" y="14851"/>
                </a:cubicBezTo>
                <a:close/>
                <a:moveTo>
                  <a:pt x="16068" y="21600"/>
                </a:moveTo>
                <a:lnTo>
                  <a:pt x="5525" y="21600"/>
                </a:lnTo>
                <a:lnTo>
                  <a:pt x="5525" y="0"/>
                </a:lnTo>
                <a:lnTo>
                  <a:pt x="16068" y="0"/>
                </a:lnTo>
                <a:close/>
                <a:moveTo>
                  <a:pt x="7076" y="19370"/>
                </a:moveTo>
                <a:lnTo>
                  <a:pt x="14526" y="19370"/>
                </a:lnTo>
                <a:lnTo>
                  <a:pt x="14526" y="2230"/>
                </a:lnTo>
                <a:lnTo>
                  <a:pt x="7076" y="223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70" name="文本框 22"/>
          <p:cNvSpPr txBox="1"/>
          <p:nvPr/>
        </p:nvSpPr>
        <p:spPr>
          <a:xfrm>
            <a:off x="7335818" y="2710758"/>
            <a:ext cx="3017752" cy="88953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RGA</a:t>
            </a:r>
            <a:r>
              <a:rPr lang="zh-CN" altLang="en-US" dirty="0">
                <a:latin typeface="+mn-ea"/>
                <a:ea typeface="+mn-ea"/>
              </a:rPr>
              <a:t>硬件转换</a:t>
            </a:r>
            <a:r>
              <a:rPr lang="en-US" altLang="zh-CN" dirty="0">
                <a:latin typeface="+mn-ea"/>
                <a:ea typeface="+mn-ea"/>
              </a:rPr>
              <a:t>DRM</a:t>
            </a:r>
            <a:r>
              <a:rPr lang="zh-CN" altLang="en-US" dirty="0">
                <a:latin typeface="+mn-ea"/>
                <a:ea typeface="+mn-ea"/>
              </a:rPr>
              <a:t>直显：</a:t>
            </a:r>
            <a:r>
              <a:rPr lang="en-US" altLang="zh-CN" dirty="0">
                <a:latin typeface="+mn-ea"/>
                <a:ea typeface="+mn-ea"/>
              </a:rPr>
              <a:t>RGA2D</a:t>
            </a:r>
            <a:r>
              <a:rPr lang="zh-CN" altLang="en-US" dirty="0">
                <a:latin typeface="+mn-ea"/>
                <a:ea typeface="+mn-ea"/>
              </a:rPr>
              <a:t>硬件完成格式转换与缩放，</a:t>
            </a:r>
            <a:r>
              <a:rPr lang="en-US" altLang="zh-CN" dirty="0">
                <a:latin typeface="+mn-ea"/>
                <a:ea typeface="+mn-ea"/>
              </a:rPr>
              <a:t>DRM</a:t>
            </a:r>
            <a:r>
              <a:rPr lang="zh-CN" altLang="en-US" dirty="0">
                <a:latin typeface="+mn-ea"/>
                <a:ea typeface="+mn-ea"/>
              </a:rPr>
              <a:t>框架直通显示控制器，无需</a:t>
            </a:r>
            <a:r>
              <a:rPr lang="en-US" altLang="zh-CN" dirty="0">
                <a:latin typeface="+mn-ea"/>
                <a:ea typeface="+mn-ea"/>
              </a:rPr>
              <a:t>CPU</a:t>
            </a:r>
            <a:r>
              <a:rPr lang="zh-CN" altLang="en-US" dirty="0">
                <a:latin typeface="+mn-ea"/>
                <a:ea typeface="+mn-ea"/>
              </a:rPr>
              <a:t>参与图像后处理。</a:t>
            </a:r>
          </a:p>
        </p:txBody>
      </p:sp>
      <p:sp>
        <p:nvSpPr>
          <p:cNvPr id="371" name="文本框 23"/>
          <p:cNvSpPr txBox="1"/>
          <p:nvPr/>
        </p:nvSpPr>
        <p:spPr>
          <a:xfrm>
            <a:off x="9312442" y="2289212"/>
            <a:ext cx="55273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渲染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72" name="椭圆 24"/>
          <p:cNvSpPr/>
          <p:nvPr/>
        </p:nvSpPr>
        <p:spPr>
          <a:xfrm flipH="1">
            <a:off x="10048382" y="2252727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grpSp>
        <p:nvGrpSpPr>
          <p:cNvPr id="375" name="图形 88"/>
          <p:cNvGrpSpPr/>
          <p:nvPr/>
        </p:nvGrpSpPr>
        <p:grpSpPr>
          <a:xfrm>
            <a:off x="10140105" y="2318869"/>
            <a:ext cx="153836" cy="179088"/>
            <a:chOff x="0" y="0"/>
            <a:chExt cx="153835" cy="179087"/>
          </a:xfrm>
        </p:grpSpPr>
        <p:sp>
          <p:nvSpPr>
            <p:cNvPr id="373" name="任意多边形: 形状 153"/>
            <p:cNvSpPr/>
            <p:nvPr/>
          </p:nvSpPr>
          <p:spPr>
            <a:xfrm>
              <a:off x="0" y="0"/>
              <a:ext cx="150593" cy="179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7458"/>
                  </a:moveTo>
                  <a:lnTo>
                    <a:pt x="16501" y="7458"/>
                  </a:lnTo>
                  <a:lnTo>
                    <a:pt x="16501" y="9759"/>
                  </a:lnTo>
                  <a:cubicBezTo>
                    <a:pt x="16501" y="10056"/>
                    <a:pt x="16763" y="10299"/>
                    <a:pt x="17107" y="10352"/>
                  </a:cubicBezTo>
                  <a:cubicBezTo>
                    <a:pt x="17188" y="10375"/>
                    <a:pt x="17269" y="10390"/>
                    <a:pt x="17359" y="10390"/>
                  </a:cubicBezTo>
                  <a:lnTo>
                    <a:pt x="20837" y="10390"/>
                  </a:lnTo>
                  <a:cubicBezTo>
                    <a:pt x="21248" y="10390"/>
                    <a:pt x="21573" y="10113"/>
                    <a:pt x="21577" y="9771"/>
                  </a:cubicBezTo>
                  <a:cubicBezTo>
                    <a:pt x="21591" y="9718"/>
                    <a:pt x="21600" y="9665"/>
                    <a:pt x="21600" y="9608"/>
                  </a:cubicBezTo>
                  <a:lnTo>
                    <a:pt x="21600" y="3809"/>
                  </a:lnTo>
                  <a:cubicBezTo>
                    <a:pt x="21600" y="3497"/>
                    <a:pt x="21329" y="3239"/>
                    <a:pt x="20977" y="3194"/>
                  </a:cubicBezTo>
                  <a:lnTo>
                    <a:pt x="20968" y="3194"/>
                  </a:lnTo>
                  <a:cubicBezTo>
                    <a:pt x="20954" y="3190"/>
                    <a:pt x="20941" y="3190"/>
                    <a:pt x="20927" y="3190"/>
                  </a:cubicBezTo>
                  <a:cubicBezTo>
                    <a:pt x="20905" y="3186"/>
                    <a:pt x="20882" y="3186"/>
                    <a:pt x="20864" y="3186"/>
                  </a:cubicBezTo>
                  <a:lnTo>
                    <a:pt x="12717" y="3186"/>
                  </a:lnTo>
                  <a:lnTo>
                    <a:pt x="12717" y="790"/>
                  </a:lnTo>
                  <a:cubicBezTo>
                    <a:pt x="12717" y="490"/>
                    <a:pt x="12514" y="232"/>
                    <a:pt x="12220" y="103"/>
                  </a:cubicBezTo>
                  <a:cubicBezTo>
                    <a:pt x="12085" y="34"/>
                    <a:pt x="11927" y="0"/>
                    <a:pt x="11760" y="0"/>
                  </a:cubicBezTo>
                  <a:lnTo>
                    <a:pt x="2841" y="0"/>
                  </a:lnTo>
                  <a:cubicBezTo>
                    <a:pt x="2330" y="0"/>
                    <a:pt x="1924" y="346"/>
                    <a:pt x="1924" y="771"/>
                  </a:cubicBezTo>
                  <a:lnTo>
                    <a:pt x="1924" y="17108"/>
                  </a:lnTo>
                  <a:lnTo>
                    <a:pt x="867" y="17108"/>
                  </a:lnTo>
                  <a:cubicBezTo>
                    <a:pt x="772" y="17108"/>
                    <a:pt x="686" y="17123"/>
                    <a:pt x="605" y="17153"/>
                  </a:cubicBezTo>
                  <a:cubicBezTo>
                    <a:pt x="253" y="17259"/>
                    <a:pt x="0" y="17544"/>
                    <a:pt x="0" y="17878"/>
                  </a:cubicBezTo>
                  <a:lnTo>
                    <a:pt x="0" y="20829"/>
                  </a:lnTo>
                  <a:cubicBezTo>
                    <a:pt x="0" y="21258"/>
                    <a:pt x="411" y="21600"/>
                    <a:pt x="917" y="21600"/>
                  </a:cubicBezTo>
                  <a:lnTo>
                    <a:pt x="13629" y="21600"/>
                  </a:lnTo>
                  <a:cubicBezTo>
                    <a:pt x="14140" y="21600"/>
                    <a:pt x="14546" y="21254"/>
                    <a:pt x="14546" y="20829"/>
                  </a:cubicBezTo>
                  <a:lnTo>
                    <a:pt x="14546" y="17882"/>
                  </a:lnTo>
                  <a:cubicBezTo>
                    <a:pt x="14546" y="17487"/>
                    <a:pt x="14194" y="17165"/>
                    <a:pt x="13742" y="17115"/>
                  </a:cubicBezTo>
                  <a:cubicBezTo>
                    <a:pt x="13724" y="17111"/>
                    <a:pt x="13702" y="17111"/>
                    <a:pt x="13679" y="17108"/>
                  </a:cubicBezTo>
                  <a:lnTo>
                    <a:pt x="12717" y="17108"/>
                  </a:lnTo>
                  <a:lnTo>
                    <a:pt x="12717" y="7458"/>
                  </a:lnTo>
                  <a:close/>
                  <a:moveTo>
                    <a:pt x="13860" y="4310"/>
                  </a:moveTo>
                  <a:lnTo>
                    <a:pt x="20259" y="4310"/>
                  </a:lnTo>
                  <a:lnTo>
                    <a:pt x="20259" y="9266"/>
                  </a:lnTo>
                  <a:lnTo>
                    <a:pt x="17978" y="9266"/>
                  </a:lnTo>
                  <a:lnTo>
                    <a:pt x="17978" y="7022"/>
                  </a:lnTo>
                  <a:cubicBezTo>
                    <a:pt x="17983" y="6999"/>
                    <a:pt x="17983" y="6984"/>
                    <a:pt x="17983" y="6961"/>
                  </a:cubicBezTo>
                  <a:cubicBezTo>
                    <a:pt x="17983" y="6615"/>
                    <a:pt x="17648" y="6338"/>
                    <a:pt x="17242" y="6338"/>
                  </a:cubicBezTo>
                  <a:lnTo>
                    <a:pt x="12717" y="6338"/>
                  </a:lnTo>
                  <a:lnTo>
                    <a:pt x="12717" y="4310"/>
                  </a:lnTo>
                  <a:lnTo>
                    <a:pt x="13860" y="4310"/>
                  </a:lnTo>
                  <a:close/>
                  <a:moveTo>
                    <a:pt x="1689" y="20206"/>
                  </a:moveTo>
                  <a:lnTo>
                    <a:pt x="1689" y="18353"/>
                  </a:lnTo>
                  <a:lnTo>
                    <a:pt x="12857" y="18353"/>
                  </a:lnTo>
                  <a:lnTo>
                    <a:pt x="12857" y="20206"/>
                  </a:lnTo>
                  <a:lnTo>
                    <a:pt x="1689" y="20206"/>
                  </a:lnTo>
                  <a:close/>
                  <a:moveTo>
                    <a:pt x="3613" y="17108"/>
                  </a:moveTo>
                  <a:lnTo>
                    <a:pt x="3613" y="1420"/>
                  </a:lnTo>
                  <a:lnTo>
                    <a:pt x="11024" y="1420"/>
                  </a:lnTo>
                  <a:lnTo>
                    <a:pt x="11024" y="17108"/>
                  </a:lnTo>
                  <a:lnTo>
                    <a:pt x="3613" y="17108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libabaPuHuiTi_2_65_Medium"/>
                  <a:ea typeface="AlibabaPuHuiTi_2_65_Medium"/>
                  <a:cs typeface="AlibabaPuHuiTi_2_65_Medium"/>
                  <a:sym typeface="AlibabaPuHuiTi_2_65_Medium"/>
                </a:defRPr>
              </a:pPr>
              <a:endParaRPr/>
            </a:p>
          </p:txBody>
        </p:sp>
        <p:sp>
          <p:nvSpPr>
            <p:cNvPr id="374" name="任意多边形: 形状 154"/>
            <p:cNvSpPr/>
            <p:nvPr/>
          </p:nvSpPr>
          <p:spPr>
            <a:xfrm>
              <a:off x="113534" y="94171"/>
              <a:ext cx="40302" cy="593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99" y="10697"/>
                  </a:moveTo>
                  <a:cubicBezTo>
                    <a:pt x="20166" y="10628"/>
                    <a:pt x="20132" y="10582"/>
                    <a:pt x="20081" y="10536"/>
                  </a:cubicBezTo>
                  <a:lnTo>
                    <a:pt x="12116" y="1502"/>
                  </a:lnTo>
                  <a:lnTo>
                    <a:pt x="10800" y="0"/>
                  </a:lnTo>
                  <a:lnTo>
                    <a:pt x="9484" y="1502"/>
                  </a:lnTo>
                  <a:lnTo>
                    <a:pt x="1451" y="10594"/>
                  </a:lnTo>
                  <a:lnTo>
                    <a:pt x="1401" y="10662"/>
                  </a:lnTo>
                  <a:cubicBezTo>
                    <a:pt x="489" y="11763"/>
                    <a:pt x="0" y="13013"/>
                    <a:pt x="0" y="14262"/>
                  </a:cubicBezTo>
                  <a:cubicBezTo>
                    <a:pt x="0" y="18310"/>
                    <a:pt x="4843" y="21600"/>
                    <a:pt x="10800" y="21600"/>
                  </a:cubicBezTo>
                  <a:cubicBezTo>
                    <a:pt x="16757" y="21600"/>
                    <a:pt x="21600" y="18310"/>
                    <a:pt x="21600" y="14262"/>
                  </a:cubicBezTo>
                  <a:cubicBezTo>
                    <a:pt x="21566" y="13024"/>
                    <a:pt x="21094" y="11797"/>
                    <a:pt x="20199" y="1069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libabaPuHuiTi_2_65_Medium"/>
                  <a:ea typeface="AlibabaPuHuiTi_2_65_Medium"/>
                  <a:cs typeface="AlibabaPuHuiTi_2_65_Medium"/>
                  <a:sym typeface="AlibabaPuHuiTi_2_65_Medium"/>
                </a:defRPr>
              </a:pPr>
              <a:endParaRPr/>
            </a:p>
          </p:txBody>
        </p:sp>
      </p:grpSp>
      <p:sp>
        <p:nvSpPr>
          <p:cNvPr id="376" name="文本框 29"/>
          <p:cNvSpPr txBox="1"/>
          <p:nvPr/>
        </p:nvSpPr>
        <p:spPr>
          <a:xfrm>
            <a:off x="7335818" y="4668427"/>
            <a:ext cx="3017756" cy="11665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三线程并发消除木桶效应：采集、推理、渲染三线时间轴高度重叠，单帧流水线周期压缩至</a:t>
            </a:r>
            <a:r>
              <a:rPr lang="en-US" altLang="zh-CN" dirty="0">
                <a:latin typeface="+mn-ea"/>
                <a:ea typeface="+mn-ea"/>
              </a:rPr>
              <a:t>14ms</a:t>
            </a:r>
            <a:r>
              <a:rPr lang="zh-CN" altLang="en-US" dirty="0">
                <a:latin typeface="+mn-ea"/>
                <a:ea typeface="+mn-ea"/>
              </a:rPr>
              <a:t>，较串行架构效率提升</a:t>
            </a:r>
            <a:r>
              <a:rPr lang="en-US" altLang="zh-CN" dirty="0">
                <a:latin typeface="+mn-ea"/>
                <a:ea typeface="+mn-ea"/>
              </a:rPr>
              <a:t>40%</a:t>
            </a:r>
            <a:r>
              <a:rPr lang="zh-CN" altLang="en-US" dirty="0">
                <a:latin typeface="+mn-ea"/>
                <a:ea typeface="+mn-ea"/>
              </a:rPr>
              <a:t>以上。</a:t>
            </a:r>
          </a:p>
        </p:txBody>
      </p:sp>
      <p:sp>
        <p:nvSpPr>
          <p:cNvPr id="377" name="文本框 30"/>
          <p:cNvSpPr txBox="1"/>
          <p:nvPr/>
        </p:nvSpPr>
        <p:spPr>
          <a:xfrm>
            <a:off x="8776264" y="4246881"/>
            <a:ext cx="1088913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并发处理</a:t>
            </a:r>
          </a:p>
        </p:txBody>
      </p:sp>
      <p:sp>
        <p:nvSpPr>
          <p:cNvPr id="378" name="椭圆 31"/>
          <p:cNvSpPr/>
          <p:nvPr/>
        </p:nvSpPr>
        <p:spPr>
          <a:xfrm flipH="1">
            <a:off x="10048382" y="4210396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79" name="图形 86"/>
          <p:cNvSpPr/>
          <p:nvPr/>
        </p:nvSpPr>
        <p:spPr>
          <a:xfrm>
            <a:off x="10122096" y="4280356"/>
            <a:ext cx="184071" cy="184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8" extrusionOk="0">
                <a:moveTo>
                  <a:pt x="19721" y="11474"/>
                </a:moveTo>
                <a:lnTo>
                  <a:pt x="19721" y="20670"/>
                </a:lnTo>
                <a:cubicBezTo>
                  <a:pt x="19704" y="21189"/>
                  <a:pt x="19269" y="21595"/>
                  <a:pt x="18750" y="21577"/>
                </a:cubicBezTo>
                <a:cubicBezTo>
                  <a:pt x="18256" y="21561"/>
                  <a:pt x="17860" y="21164"/>
                  <a:pt x="17843" y="20670"/>
                </a:cubicBezTo>
                <a:lnTo>
                  <a:pt x="17843" y="11474"/>
                </a:lnTo>
                <a:cubicBezTo>
                  <a:pt x="17861" y="10955"/>
                  <a:pt x="18295" y="10549"/>
                  <a:pt x="18814" y="10566"/>
                </a:cubicBezTo>
                <a:cubicBezTo>
                  <a:pt x="19308" y="10583"/>
                  <a:pt x="19705" y="10980"/>
                  <a:pt x="19721" y="11474"/>
                </a:cubicBezTo>
                <a:close/>
                <a:moveTo>
                  <a:pt x="18782" y="2683"/>
                </a:moveTo>
                <a:cubicBezTo>
                  <a:pt x="19301" y="2683"/>
                  <a:pt x="19722" y="2262"/>
                  <a:pt x="19722" y="1743"/>
                </a:cubicBezTo>
                <a:lnTo>
                  <a:pt x="19722" y="940"/>
                </a:lnTo>
                <a:cubicBezTo>
                  <a:pt x="19722" y="421"/>
                  <a:pt x="19301" y="0"/>
                  <a:pt x="18782" y="0"/>
                </a:cubicBezTo>
                <a:cubicBezTo>
                  <a:pt x="18263" y="0"/>
                  <a:pt x="17843" y="421"/>
                  <a:pt x="17843" y="940"/>
                </a:cubicBezTo>
                <a:lnTo>
                  <a:pt x="17843" y="1744"/>
                </a:lnTo>
                <a:cubicBezTo>
                  <a:pt x="17843" y="2263"/>
                  <a:pt x="18264" y="2684"/>
                  <a:pt x="18782" y="2684"/>
                </a:cubicBezTo>
                <a:close/>
                <a:moveTo>
                  <a:pt x="5604" y="10805"/>
                </a:moveTo>
                <a:cubicBezTo>
                  <a:pt x="5604" y="12364"/>
                  <a:pt x="4348" y="13631"/>
                  <a:pt x="2802" y="13631"/>
                </a:cubicBezTo>
                <a:cubicBezTo>
                  <a:pt x="1257" y="13631"/>
                  <a:pt x="0" y="12364"/>
                  <a:pt x="0" y="10805"/>
                </a:cubicBezTo>
                <a:cubicBezTo>
                  <a:pt x="0" y="9246"/>
                  <a:pt x="1257" y="7978"/>
                  <a:pt x="2803" y="7978"/>
                </a:cubicBezTo>
                <a:cubicBezTo>
                  <a:pt x="4347" y="7978"/>
                  <a:pt x="5604" y="9246"/>
                  <a:pt x="5604" y="10805"/>
                </a:cubicBezTo>
                <a:close/>
                <a:moveTo>
                  <a:pt x="3726" y="10805"/>
                </a:moveTo>
                <a:cubicBezTo>
                  <a:pt x="3726" y="10283"/>
                  <a:pt x="3312" y="9857"/>
                  <a:pt x="2803" y="9857"/>
                </a:cubicBezTo>
                <a:cubicBezTo>
                  <a:pt x="2293" y="9857"/>
                  <a:pt x="1878" y="10283"/>
                  <a:pt x="1878" y="10805"/>
                </a:cubicBezTo>
                <a:cubicBezTo>
                  <a:pt x="1878" y="11327"/>
                  <a:pt x="2293" y="11753"/>
                  <a:pt x="2802" y="11753"/>
                </a:cubicBezTo>
                <a:cubicBezTo>
                  <a:pt x="3312" y="11753"/>
                  <a:pt x="3726" y="11327"/>
                  <a:pt x="3726" y="10805"/>
                </a:cubicBezTo>
                <a:close/>
                <a:moveTo>
                  <a:pt x="13603" y="15426"/>
                </a:moveTo>
                <a:cubicBezTo>
                  <a:pt x="13603" y="16985"/>
                  <a:pt x="12345" y="18253"/>
                  <a:pt x="10800" y="18253"/>
                </a:cubicBezTo>
                <a:cubicBezTo>
                  <a:pt x="9255" y="18253"/>
                  <a:pt x="7997" y="16985"/>
                  <a:pt x="7997" y="15426"/>
                </a:cubicBezTo>
                <a:cubicBezTo>
                  <a:pt x="7997" y="13868"/>
                  <a:pt x="9255" y="12599"/>
                  <a:pt x="10800" y="12599"/>
                </a:cubicBezTo>
                <a:cubicBezTo>
                  <a:pt x="12345" y="12599"/>
                  <a:pt x="13603" y="13868"/>
                  <a:pt x="13603" y="15426"/>
                </a:cubicBezTo>
                <a:close/>
                <a:moveTo>
                  <a:pt x="11723" y="15426"/>
                </a:moveTo>
                <a:cubicBezTo>
                  <a:pt x="11723" y="14904"/>
                  <a:pt x="11309" y="14478"/>
                  <a:pt x="10800" y="14478"/>
                </a:cubicBezTo>
                <a:cubicBezTo>
                  <a:pt x="10291" y="14478"/>
                  <a:pt x="9877" y="14904"/>
                  <a:pt x="9877" y="15426"/>
                </a:cubicBezTo>
                <a:cubicBezTo>
                  <a:pt x="9877" y="15949"/>
                  <a:pt x="10291" y="16374"/>
                  <a:pt x="10800" y="16374"/>
                </a:cubicBezTo>
                <a:cubicBezTo>
                  <a:pt x="11309" y="16374"/>
                  <a:pt x="11723" y="15949"/>
                  <a:pt x="11723" y="15426"/>
                </a:cubicBezTo>
                <a:close/>
                <a:moveTo>
                  <a:pt x="21600" y="6726"/>
                </a:moveTo>
                <a:cubicBezTo>
                  <a:pt x="21600" y="8285"/>
                  <a:pt x="20343" y="9553"/>
                  <a:pt x="18797" y="9553"/>
                </a:cubicBezTo>
                <a:cubicBezTo>
                  <a:pt x="17253" y="9553"/>
                  <a:pt x="15996" y="8285"/>
                  <a:pt x="15996" y="6726"/>
                </a:cubicBezTo>
                <a:cubicBezTo>
                  <a:pt x="15996" y="5167"/>
                  <a:pt x="17253" y="3899"/>
                  <a:pt x="18798" y="3899"/>
                </a:cubicBezTo>
                <a:cubicBezTo>
                  <a:pt x="20343" y="3899"/>
                  <a:pt x="21600" y="5167"/>
                  <a:pt x="21600" y="6726"/>
                </a:cubicBezTo>
                <a:close/>
                <a:moveTo>
                  <a:pt x="19722" y="6726"/>
                </a:moveTo>
                <a:cubicBezTo>
                  <a:pt x="19722" y="6203"/>
                  <a:pt x="19307" y="5778"/>
                  <a:pt x="18798" y="5778"/>
                </a:cubicBezTo>
                <a:cubicBezTo>
                  <a:pt x="18288" y="5778"/>
                  <a:pt x="17874" y="6203"/>
                  <a:pt x="17874" y="6726"/>
                </a:cubicBezTo>
                <a:cubicBezTo>
                  <a:pt x="17874" y="7248"/>
                  <a:pt x="18288" y="7674"/>
                  <a:pt x="18797" y="7674"/>
                </a:cubicBezTo>
                <a:cubicBezTo>
                  <a:pt x="19307" y="7674"/>
                  <a:pt x="19722" y="7248"/>
                  <a:pt x="19722" y="6726"/>
                </a:cubicBezTo>
                <a:close/>
                <a:moveTo>
                  <a:pt x="10799" y="19191"/>
                </a:moveTo>
                <a:cubicBezTo>
                  <a:pt x="10281" y="19191"/>
                  <a:pt x="9860" y="19611"/>
                  <a:pt x="9860" y="20130"/>
                </a:cubicBezTo>
                <a:lnTo>
                  <a:pt x="9860" y="20670"/>
                </a:lnTo>
                <a:cubicBezTo>
                  <a:pt x="9873" y="21189"/>
                  <a:pt x="10303" y="21600"/>
                  <a:pt x="10822" y="21588"/>
                </a:cubicBezTo>
                <a:cubicBezTo>
                  <a:pt x="11323" y="21576"/>
                  <a:pt x="11727" y="21172"/>
                  <a:pt x="11739" y="20670"/>
                </a:cubicBezTo>
                <a:lnTo>
                  <a:pt x="11739" y="20130"/>
                </a:lnTo>
                <a:cubicBezTo>
                  <a:pt x="11739" y="19611"/>
                  <a:pt x="11318" y="19190"/>
                  <a:pt x="10799" y="19190"/>
                </a:cubicBezTo>
                <a:close/>
                <a:moveTo>
                  <a:pt x="10799" y="11441"/>
                </a:moveTo>
                <a:cubicBezTo>
                  <a:pt x="11318" y="11441"/>
                  <a:pt x="11739" y="11019"/>
                  <a:pt x="11739" y="10501"/>
                </a:cubicBezTo>
                <a:lnTo>
                  <a:pt x="11739" y="940"/>
                </a:lnTo>
                <a:cubicBezTo>
                  <a:pt x="11727" y="421"/>
                  <a:pt x="11296" y="10"/>
                  <a:pt x="10777" y="23"/>
                </a:cubicBezTo>
                <a:cubicBezTo>
                  <a:pt x="10276" y="35"/>
                  <a:pt x="9872" y="439"/>
                  <a:pt x="9860" y="940"/>
                </a:cubicBezTo>
                <a:lnTo>
                  <a:pt x="9860" y="10501"/>
                </a:lnTo>
                <a:cubicBezTo>
                  <a:pt x="9860" y="11020"/>
                  <a:pt x="10281" y="11441"/>
                  <a:pt x="10800" y="11441"/>
                </a:cubicBezTo>
                <a:close/>
                <a:moveTo>
                  <a:pt x="2817" y="14863"/>
                </a:moveTo>
                <a:cubicBezTo>
                  <a:pt x="2299" y="14863"/>
                  <a:pt x="1878" y="15284"/>
                  <a:pt x="1878" y="15803"/>
                </a:cubicBezTo>
                <a:lnTo>
                  <a:pt x="1878" y="20670"/>
                </a:lnTo>
                <a:cubicBezTo>
                  <a:pt x="1890" y="21189"/>
                  <a:pt x="2321" y="21600"/>
                  <a:pt x="2839" y="21588"/>
                </a:cubicBezTo>
                <a:cubicBezTo>
                  <a:pt x="3341" y="21576"/>
                  <a:pt x="3744" y="21172"/>
                  <a:pt x="3756" y="20670"/>
                </a:cubicBezTo>
                <a:lnTo>
                  <a:pt x="3756" y="15803"/>
                </a:lnTo>
                <a:cubicBezTo>
                  <a:pt x="3756" y="15284"/>
                  <a:pt x="3336" y="14863"/>
                  <a:pt x="2817" y="14863"/>
                </a:cubicBezTo>
                <a:close/>
                <a:moveTo>
                  <a:pt x="2817" y="6794"/>
                </a:moveTo>
                <a:cubicBezTo>
                  <a:pt x="3336" y="6794"/>
                  <a:pt x="3756" y="6373"/>
                  <a:pt x="3756" y="5854"/>
                </a:cubicBezTo>
                <a:lnTo>
                  <a:pt x="3756" y="939"/>
                </a:lnTo>
                <a:cubicBezTo>
                  <a:pt x="3739" y="421"/>
                  <a:pt x="3304" y="14"/>
                  <a:pt x="2785" y="32"/>
                </a:cubicBezTo>
                <a:cubicBezTo>
                  <a:pt x="2291" y="49"/>
                  <a:pt x="1895" y="445"/>
                  <a:pt x="1878" y="939"/>
                </a:cubicBezTo>
                <a:lnTo>
                  <a:pt x="1878" y="5854"/>
                </a:lnTo>
                <a:cubicBezTo>
                  <a:pt x="1878" y="6373"/>
                  <a:pt x="2298" y="6794"/>
                  <a:pt x="2817" y="679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277A-D21A-7FBD-3BF5-EDD11D82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8A5B0F94-785F-B7DD-9498-7553A8B76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F0F07AF6-A425-4BC8-CB8A-9E128A88E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75916708-B1F7-0B73-7E1C-A34FA88C680D}"/>
              </a:ext>
            </a:extLst>
          </p:cNvPr>
          <p:cNvSpPr/>
          <p:nvPr/>
        </p:nvSpPr>
        <p:spPr>
          <a:xfrm>
            <a:off x="2996283" y="809263"/>
            <a:ext cx="619943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识别交互界面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9368E9D-F59D-3F1E-2911-67014688F4CC}"/>
              </a:ext>
            </a:extLst>
          </p:cNvPr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BA25EA-028D-C6F9-CE18-50018394E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17" y="1494391"/>
            <a:ext cx="10229198" cy="53098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2388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898A-CC8B-3355-801E-AFFC0F42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6ADE36B7-3B83-D63B-D5C5-3EE80051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31F8730C-46B5-E484-5658-E533A1580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570699EA-6C06-FB61-217F-E04367ABEE5D}"/>
              </a:ext>
            </a:extLst>
          </p:cNvPr>
          <p:cNvSpPr/>
          <p:nvPr/>
        </p:nvSpPr>
        <p:spPr>
          <a:xfrm>
            <a:off x="2996283" y="809263"/>
            <a:ext cx="619943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C_GPIO</a:t>
            </a:r>
            <a:r>
              <a:rPr lang="zh-CN" altLang="en-US" dirty="0">
                <a:latin typeface="+mj-ea"/>
                <a:ea typeface="+mj-ea"/>
              </a:rPr>
              <a:t>设备树开放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595BD0-AB53-42A1-3FB3-E9C119CD102D}"/>
              </a:ext>
            </a:extLst>
          </p:cNvPr>
          <p:cNvSpPr/>
          <p:nvPr/>
        </p:nvSpPr>
        <p:spPr>
          <a:xfrm>
            <a:off x="4563611" y="1368000"/>
            <a:ext cx="3078760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55C04E-9AAA-1817-F82B-9F63E10229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9" y="1879355"/>
            <a:ext cx="5132360" cy="43825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3B693AC-3EC4-8BB9-0795-88C22B1ADB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238" y="1770713"/>
            <a:ext cx="6270588" cy="47029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3945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6D08-B860-5AE3-3AA2-A5A72329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8E51B2E5-4B89-7E24-3A67-4B99DA18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D988BD7D-57B9-2A26-9C58-EE495BC7F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C0DAB2AF-2EEC-60E4-4F7D-A36C830DDB1C}"/>
              </a:ext>
            </a:extLst>
          </p:cNvPr>
          <p:cNvSpPr/>
          <p:nvPr/>
        </p:nvSpPr>
        <p:spPr>
          <a:xfrm>
            <a:off x="2996283" y="809263"/>
            <a:ext cx="619943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小车控制界面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7E5251-54A1-827C-91CE-26E9BCCCC631}"/>
              </a:ext>
            </a:extLst>
          </p:cNvPr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77B2FA-D981-3D0D-DDA7-02EFAFA313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93" y="1551268"/>
            <a:ext cx="9887700" cy="52347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5507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3068955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指标一览</a:t>
            </a: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5646000" y="1988685"/>
            <a:ext cx="900000" cy="90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pic>
        <p:nvPicPr>
          <p:cNvPr id="4" name="b9103699cfc5c3d0af5973693818c4961a3bae53ad84d-G3QvIn.jpeg" descr="b9103699cfc5c3d0af5973693818c4961a3bae53ad84d-G3QvIn.jpeg"/>
          <p:cNvPicPr/>
          <p:nvPr/>
        </p:nvPicPr>
        <p:blipFill>
          <a:blip r:embed="rId5"/>
          <a:srcRect t="36417" b="36417"/>
          <a:stretch>
            <a:fillRect/>
          </a:stretch>
        </p:blipFill>
        <p:spPr>
          <a:xfrm>
            <a:off x="419889" y="1555216"/>
            <a:ext cx="11520000" cy="1764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矩形 6"/>
          <p:cNvSpPr/>
          <p:nvPr/>
        </p:nvSpPr>
        <p:spPr>
          <a:xfrm>
            <a:off x="419889" y="1555216"/>
            <a:ext cx="11520000" cy="1764000"/>
          </a:xfrm>
          <a:prstGeom prst="rect">
            <a:avLst/>
          </a:prstGeom>
          <a:solidFill>
            <a:srgbClr val="E3EFF8">
              <a:alpha val="70111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指标一览</a:t>
            </a:r>
            <a:endParaRPr lang="zh-CN" dirty="0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grpSp>
        <p:nvGrpSpPr>
          <p:cNvPr id="12" name="成组"/>
          <p:cNvGrpSpPr/>
          <p:nvPr/>
        </p:nvGrpSpPr>
        <p:grpSpPr>
          <a:xfrm>
            <a:off x="4491364" y="1792076"/>
            <a:ext cx="3607184" cy="4440944"/>
            <a:chOff x="5381620" y="36156"/>
            <a:chExt cx="2493351" cy="2674035"/>
          </a:xfrm>
        </p:grpSpPr>
        <p:sp>
          <p:nvSpPr>
            <p:cNvPr id="14" name="矩形: 圆角 16"/>
            <p:cNvSpPr/>
            <p:nvPr/>
          </p:nvSpPr>
          <p:spPr>
            <a:xfrm>
              <a:off x="5381620" y="36156"/>
              <a:ext cx="2493351" cy="2674035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88900" dist="38100" dir="5400000" rotWithShape="0">
                <a:srgbClr val="3B5463">
                  <a:alpha val="1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任意多边形: 形状 115"/>
            <p:cNvSpPr/>
            <p:nvPr/>
          </p:nvSpPr>
          <p:spPr>
            <a:xfrm>
              <a:off x="6381426" y="2554739"/>
              <a:ext cx="493739" cy="155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4167" y="0"/>
                    <a:pt x="17216" y="4335"/>
                    <a:pt x="19423" y="1134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2177" y="11345"/>
                  </a:lnTo>
                  <a:cubicBezTo>
                    <a:pt x="4384" y="4335"/>
                    <a:pt x="7433" y="0"/>
                    <a:pt x="10800" y="0"/>
                  </a:cubicBezTo>
                  <a:close/>
                </a:path>
              </a:pathLst>
            </a:custGeom>
            <a:solidFill>
              <a:srgbClr val="004CE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文本框 17"/>
            <p:cNvSpPr txBox="1"/>
            <p:nvPr/>
          </p:nvSpPr>
          <p:spPr>
            <a:xfrm>
              <a:off x="5558420" y="1373174"/>
              <a:ext cx="2237963" cy="9189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50000"/>
                </a:lnSpc>
                <a:defRPr sz="1000">
                  <a:solidFill>
                    <a:srgbClr val="808080"/>
                  </a:solidFill>
                </a:defRPr>
              </a:pP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满载功耗仅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4.2W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，较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GPU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方案降低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80%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；仅需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2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帧乒乓缓存，片上资源精简显著。全链路仅需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6.1K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 LUT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和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164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个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BRAM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精简资源使用。</a:t>
              </a:r>
            </a:p>
          </p:txBody>
        </p:sp>
        <p:sp>
          <p:nvSpPr>
            <p:cNvPr id="18" name="椭圆 21"/>
            <p:cNvSpPr/>
            <p:nvPr/>
          </p:nvSpPr>
          <p:spPr>
            <a:xfrm>
              <a:off x="6331432" y="277621"/>
              <a:ext cx="593727" cy="593727"/>
            </a:xfrm>
            <a:prstGeom prst="ellipse">
              <a:avLst/>
            </a:prstGeom>
            <a:solidFill>
              <a:srgbClr val="004CE5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>
              <a:outerShdw blurRad="254000" dist="63500" dir="5400000" rotWithShape="0">
                <a:srgbClr val="535353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" name="invesment-purse_73104"/>
            <p:cNvSpPr/>
            <p:nvPr/>
          </p:nvSpPr>
          <p:spPr>
            <a:xfrm>
              <a:off x="6449555" y="404245"/>
              <a:ext cx="357481" cy="3404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558" extrusionOk="0">
                  <a:moveTo>
                    <a:pt x="2441" y="17336"/>
                  </a:moveTo>
                  <a:cubicBezTo>
                    <a:pt x="2748" y="17336"/>
                    <a:pt x="2997" y="17596"/>
                    <a:pt x="2997" y="17918"/>
                  </a:cubicBezTo>
                  <a:cubicBezTo>
                    <a:pt x="2997" y="18240"/>
                    <a:pt x="2748" y="18501"/>
                    <a:pt x="2441" y="18501"/>
                  </a:cubicBezTo>
                  <a:cubicBezTo>
                    <a:pt x="2135" y="18501"/>
                    <a:pt x="1886" y="18240"/>
                    <a:pt x="1886" y="17918"/>
                  </a:cubicBezTo>
                  <a:cubicBezTo>
                    <a:pt x="1886" y="17596"/>
                    <a:pt x="2135" y="17336"/>
                    <a:pt x="2441" y="17336"/>
                  </a:cubicBezTo>
                  <a:close/>
                  <a:moveTo>
                    <a:pt x="2441" y="12146"/>
                  </a:moveTo>
                  <a:cubicBezTo>
                    <a:pt x="2748" y="12146"/>
                    <a:pt x="2997" y="12407"/>
                    <a:pt x="2997" y="12729"/>
                  </a:cubicBezTo>
                  <a:cubicBezTo>
                    <a:pt x="2997" y="13051"/>
                    <a:pt x="2748" y="13312"/>
                    <a:pt x="2441" y="13312"/>
                  </a:cubicBezTo>
                  <a:cubicBezTo>
                    <a:pt x="2135" y="13312"/>
                    <a:pt x="1886" y="13051"/>
                    <a:pt x="1886" y="12729"/>
                  </a:cubicBezTo>
                  <a:cubicBezTo>
                    <a:pt x="1886" y="12407"/>
                    <a:pt x="2135" y="12146"/>
                    <a:pt x="2441" y="12146"/>
                  </a:cubicBezTo>
                  <a:close/>
                  <a:moveTo>
                    <a:pt x="15676" y="11128"/>
                  </a:moveTo>
                  <a:cubicBezTo>
                    <a:pt x="14436" y="10961"/>
                    <a:pt x="13503" y="11252"/>
                    <a:pt x="13096" y="12053"/>
                  </a:cubicBezTo>
                  <a:cubicBezTo>
                    <a:pt x="12690" y="12854"/>
                    <a:pt x="12660" y="13561"/>
                    <a:pt x="12690" y="13686"/>
                  </a:cubicBezTo>
                  <a:cubicBezTo>
                    <a:pt x="12719" y="13821"/>
                    <a:pt x="12858" y="14060"/>
                    <a:pt x="12858" y="14060"/>
                  </a:cubicBezTo>
                  <a:cubicBezTo>
                    <a:pt x="12858" y="14060"/>
                    <a:pt x="12233" y="15069"/>
                    <a:pt x="12273" y="15235"/>
                  </a:cubicBezTo>
                  <a:cubicBezTo>
                    <a:pt x="12312" y="15402"/>
                    <a:pt x="12739" y="15485"/>
                    <a:pt x="12739" y="15485"/>
                  </a:cubicBezTo>
                  <a:cubicBezTo>
                    <a:pt x="12739" y="15485"/>
                    <a:pt x="12779" y="15599"/>
                    <a:pt x="12699" y="15818"/>
                  </a:cubicBezTo>
                  <a:cubicBezTo>
                    <a:pt x="12620" y="16047"/>
                    <a:pt x="12848" y="16296"/>
                    <a:pt x="12908" y="16390"/>
                  </a:cubicBezTo>
                  <a:cubicBezTo>
                    <a:pt x="12977" y="16483"/>
                    <a:pt x="12819" y="16754"/>
                    <a:pt x="12868" y="16910"/>
                  </a:cubicBezTo>
                  <a:cubicBezTo>
                    <a:pt x="12928" y="17066"/>
                    <a:pt x="13186" y="17253"/>
                    <a:pt x="13483" y="17211"/>
                  </a:cubicBezTo>
                  <a:cubicBezTo>
                    <a:pt x="13771" y="17180"/>
                    <a:pt x="14158" y="17107"/>
                    <a:pt x="14287" y="17076"/>
                  </a:cubicBezTo>
                  <a:cubicBezTo>
                    <a:pt x="14585" y="17815"/>
                    <a:pt x="13870" y="18189"/>
                    <a:pt x="13870" y="18189"/>
                  </a:cubicBezTo>
                  <a:lnTo>
                    <a:pt x="17661" y="18189"/>
                  </a:lnTo>
                  <a:cubicBezTo>
                    <a:pt x="17661" y="18189"/>
                    <a:pt x="16559" y="17263"/>
                    <a:pt x="16579" y="16255"/>
                  </a:cubicBezTo>
                  <a:cubicBezTo>
                    <a:pt x="16589" y="15683"/>
                    <a:pt x="17661" y="14965"/>
                    <a:pt x="17651" y="13395"/>
                  </a:cubicBezTo>
                  <a:cubicBezTo>
                    <a:pt x="17651" y="12604"/>
                    <a:pt x="16917" y="11294"/>
                    <a:pt x="15676" y="11128"/>
                  </a:cubicBezTo>
                  <a:close/>
                  <a:moveTo>
                    <a:pt x="13950" y="7737"/>
                  </a:moveTo>
                  <a:cubicBezTo>
                    <a:pt x="14108" y="7675"/>
                    <a:pt x="14277" y="7758"/>
                    <a:pt x="14337" y="7925"/>
                  </a:cubicBezTo>
                  <a:lnTo>
                    <a:pt x="14744" y="9079"/>
                  </a:lnTo>
                  <a:cubicBezTo>
                    <a:pt x="14803" y="9245"/>
                    <a:pt x="15150" y="9381"/>
                    <a:pt x="15269" y="9381"/>
                  </a:cubicBezTo>
                  <a:cubicBezTo>
                    <a:pt x="15379" y="9391"/>
                    <a:pt x="15527" y="9266"/>
                    <a:pt x="15597" y="9121"/>
                  </a:cubicBezTo>
                  <a:lnTo>
                    <a:pt x="16093" y="7987"/>
                  </a:lnTo>
                  <a:cubicBezTo>
                    <a:pt x="16153" y="7841"/>
                    <a:pt x="16331" y="7769"/>
                    <a:pt x="16480" y="7841"/>
                  </a:cubicBezTo>
                  <a:lnTo>
                    <a:pt x="18901" y="9006"/>
                  </a:lnTo>
                  <a:cubicBezTo>
                    <a:pt x="19050" y="9079"/>
                    <a:pt x="19119" y="9266"/>
                    <a:pt x="19050" y="9422"/>
                  </a:cubicBezTo>
                  <a:lnTo>
                    <a:pt x="18554" y="10545"/>
                  </a:lnTo>
                  <a:cubicBezTo>
                    <a:pt x="18484" y="10701"/>
                    <a:pt x="18643" y="11055"/>
                    <a:pt x="18713" y="11148"/>
                  </a:cubicBezTo>
                  <a:cubicBezTo>
                    <a:pt x="18792" y="11232"/>
                    <a:pt x="18971" y="11263"/>
                    <a:pt x="19129" y="11200"/>
                  </a:cubicBezTo>
                  <a:lnTo>
                    <a:pt x="20241" y="10774"/>
                  </a:lnTo>
                  <a:cubicBezTo>
                    <a:pt x="20389" y="10712"/>
                    <a:pt x="20568" y="10795"/>
                    <a:pt x="20618" y="10961"/>
                  </a:cubicBezTo>
                  <a:lnTo>
                    <a:pt x="21540" y="13582"/>
                  </a:lnTo>
                  <a:cubicBezTo>
                    <a:pt x="21600" y="13738"/>
                    <a:pt x="21521" y="13925"/>
                    <a:pt x="21372" y="13977"/>
                  </a:cubicBezTo>
                  <a:lnTo>
                    <a:pt x="20260" y="14414"/>
                  </a:lnTo>
                  <a:cubicBezTo>
                    <a:pt x="20102" y="14466"/>
                    <a:pt x="19983" y="14612"/>
                    <a:pt x="19983" y="14736"/>
                  </a:cubicBezTo>
                  <a:cubicBezTo>
                    <a:pt x="19983" y="14851"/>
                    <a:pt x="20082" y="15225"/>
                    <a:pt x="20231" y="15298"/>
                  </a:cubicBezTo>
                  <a:lnTo>
                    <a:pt x="21302" y="15818"/>
                  </a:lnTo>
                  <a:cubicBezTo>
                    <a:pt x="21451" y="15891"/>
                    <a:pt x="21511" y="16078"/>
                    <a:pt x="21441" y="16223"/>
                  </a:cubicBezTo>
                  <a:lnTo>
                    <a:pt x="20330" y="18771"/>
                  </a:lnTo>
                  <a:cubicBezTo>
                    <a:pt x="20260" y="18927"/>
                    <a:pt x="20082" y="18990"/>
                    <a:pt x="19933" y="18917"/>
                  </a:cubicBezTo>
                  <a:lnTo>
                    <a:pt x="18861" y="18397"/>
                  </a:lnTo>
                  <a:cubicBezTo>
                    <a:pt x="18713" y="18335"/>
                    <a:pt x="18375" y="18491"/>
                    <a:pt x="18286" y="18574"/>
                  </a:cubicBezTo>
                  <a:cubicBezTo>
                    <a:pt x="18206" y="18647"/>
                    <a:pt x="18177" y="18844"/>
                    <a:pt x="18236" y="19000"/>
                  </a:cubicBezTo>
                  <a:lnTo>
                    <a:pt x="18643" y="20165"/>
                  </a:lnTo>
                  <a:cubicBezTo>
                    <a:pt x="18703" y="20331"/>
                    <a:pt x="18623" y="20508"/>
                    <a:pt x="18474" y="20570"/>
                  </a:cubicBezTo>
                  <a:lnTo>
                    <a:pt x="15964" y="21538"/>
                  </a:lnTo>
                  <a:cubicBezTo>
                    <a:pt x="15815" y="21600"/>
                    <a:pt x="15637" y="21517"/>
                    <a:pt x="15587" y="21350"/>
                  </a:cubicBezTo>
                  <a:lnTo>
                    <a:pt x="15180" y="20186"/>
                  </a:lnTo>
                  <a:cubicBezTo>
                    <a:pt x="15121" y="20030"/>
                    <a:pt x="14773" y="19894"/>
                    <a:pt x="14664" y="19884"/>
                  </a:cubicBezTo>
                  <a:cubicBezTo>
                    <a:pt x="14545" y="19884"/>
                    <a:pt x="14396" y="19998"/>
                    <a:pt x="14327" y="20154"/>
                  </a:cubicBezTo>
                  <a:lnTo>
                    <a:pt x="13831" y="21278"/>
                  </a:lnTo>
                  <a:cubicBezTo>
                    <a:pt x="13771" y="21434"/>
                    <a:pt x="13592" y="21506"/>
                    <a:pt x="13444" y="21434"/>
                  </a:cubicBezTo>
                  <a:lnTo>
                    <a:pt x="11013" y="20258"/>
                  </a:lnTo>
                  <a:cubicBezTo>
                    <a:pt x="10874" y="20186"/>
                    <a:pt x="10804" y="19998"/>
                    <a:pt x="10874" y="19842"/>
                  </a:cubicBezTo>
                  <a:lnTo>
                    <a:pt x="11370" y="18730"/>
                  </a:lnTo>
                  <a:cubicBezTo>
                    <a:pt x="11439" y="18563"/>
                    <a:pt x="11281" y="18220"/>
                    <a:pt x="11211" y="18127"/>
                  </a:cubicBezTo>
                  <a:cubicBezTo>
                    <a:pt x="11132" y="18033"/>
                    <a:pt x="10943" y="18012"/>
                    <a:pt x="10794" y="18064"/>
                  </a:cubicBezTo>
                  <a:lnTo>
                    <a:pt x="9683" y="18501"/>
                  </a:lnTo>
                  <a:cubicBezTo>
                    <a:pt x="9534" y="18563"/>
                    <a:pt x="9356" y="18470"/>
                    <a:pt x="9306" y="18314"/>
                  </a:cubicBezTo>
                  <a:lnTo>
                    <a:pt x="8373" y="15693"/>
                  </a:lnTo>
                  <a:cubicBezTo>
                    <a:pt x="8324" y="15527"/>
                    <a:pt x="8403" y="15350"/>
                    <a:pt x="8552" y="15287"/>
                  </a:cubicBezTo>
                  <a:lnTo>
                    <a:pt x="9663" y="14861"/>
                  </a:lnTo>
                  <a:cubicBezTo>
                    <a:pt x="9812" y="14799"/>
                    <a:pt x="9941" y="14435"/>
                    <a:pt x="9951" y="14320"/>
                  </a:cubicBezTo>
                  <a:cubicBezTo>
                    <a:pt x="9961" y="14206"/>
                    <a:pt x="9842" y="14040"/>
                    <a:pt x="9693" y="13977"/>
                  </a:cubicBezTo>
                  <a:lnTo>
                    <a:pt x="8621" y="13457"/>
                  </a:lnTo>
                  <a:cubicBezTo>
                    <a:pt x="8472" y="13384"/>
                    <a:pt x="8413" y="13197"/>
                    <a:pt x="8482" y="13041"/>
                  </a:cubicBezTo>
                  <a:lnTo>
                    <a:pt x="9594" y="10504"/>
                  </a:lnTo>
                  <a:cubicBezTo>
                    <a:pt x="9663" y="10348"/>
                    <a:pt x="9842" y="10285"/>
                    <a:pt x="9991" y="10348"/>
                  </a:cubicBezTo>
                  <a:lnTo>
                    <a:pt x="11062" y="10868"/>
                  </a:lnTo>
                  <a:cubicBezTo>
                    <a:pt x="11211" y="10940"/>
                    <a:pt x="11548" y="10774"/>
                    <a:pt x="11628" y="10701"/>
                  </a:cubicBezTo>
                  <a:cubicBezTo>
                    <a:pt x="11717" y="10628"/>
                    <a:pt x="11737" y="10431"/>
                    <a:pt x="11687" y="10275"/>
                  </a:cubicBezTo>
                  <a:lnTo>
                    <a:pt x="11271" y="9110"/>
                  </a:lnTo>
                  <a:cubicBezTo>
                    <a:pt x="11221" y="8944"/>
                    <a:pt x="11300" y="8767"/>
                    <a:pt x="11449" y="8705"/>
                  </a:cubicBezTo>
                  <a:close/>
                  <a:moveTo>
                    <a:pt x="2441" y="6957"/>
                  </a:moveTo>
                  <a:cubicBezTo>
                    <a:pt x="2748" y="6957"/>
                    <a:pt x="2997" y="7218"/>
                    <a:pt x="2997" y="7540"/>
                  </a:cubicBezTo>
                  <a:cubicBezTo>
                    <a:pt x="2997" y="7862"/>
                    <a:pt x="2748" y="8123"/>
                    <a:pt x="2441" y="8123"/>
                  </a:cubicBezTo>
                  <a:cubicBezTo>
                    <a:pt x="2135" y="8123"/>
                    <a:pt x="1886" y="7862"/>
                    <a:pt x="1886" y="7540"/>
                  </a:cubicBezTo>
                  <a:cubicBezTo>
                    <a:pt x="1886" y="7218"/>
                    <a:pt x="2135" y="6957"/>
                    <a:pt x="2441" y="6957"/>
                  </a:cubicBezTo>
                  <a:close/>
                  <a:moveTo>
                    <a:pt x="2490" y="0"/>
                  </a:moveTo>
                  <a:lnTo>
                    <a:pt x="14496" y="0"/>
                  </a:lnTo>
                  <a:cubicBezTo>
                    <a:pt x="14962" y="0"/>
                    <a:pt x="15389" y="364"/>
                    <a:pt x="15439" y="811"/>
                  </a:cubicBezTo>
                  <a:lnTo>
                    <a:pt x="16977" y="6687"/>
                  </a:lnTo>
                  <a:cubicBezTo>
                    <a:pt x="16977" y="6698"/>
                    <a:pt x="16987" y="6718"/>
                    <a:pt x="16987" y="6729"/>
                  </a:cubicBezTo>
                  <a:lnTo>
                    <a:pt x="16987" y="7134"/>
                  </a:lnTo>
                  <a:lnTo>
                    <a:pt x="16828" y="7051"/>
                  </a:lnTo>
                  <a:cubicBezTo>
                    <a:pt x="16629" y="6958"/>
                    <a:pt x="16421" y="6937"/>
                    <a:pt x="16213" y="6968"/>
                  </a:cubicBezTo>
                  <a:lnTo>
                    <a:pt x="16213" y="6729"/>
                  </a:lnTo>
                  <a:cubicBezTo>
                    <a:pt x="16213" y="6292"/>
                    <a:pt x="15865" y="5928"/>
                    <a:pt x="15439" y="5928"/>
                  </a:cubicBezTo>
                  <a:lnTo>
                    <a:pt x="1548" y="5928"/>
                  </a:lnTo>
                  <a:cubicBezTo>
                    <a:pt x="1121" y="5928"/>
                    <a:pt x="774" y="6292"/>
                    <a:pt x="774" y="6729"/>
                  </a:cubicBezTo>
                  <a:lnTo>
                    <a:pt x="774" y="8351"/>
                  </a:lnTo>
                  <a:cubicBezTo>
                    <a:pt x="774" y="8799"/>
                    <a:pt x="1121" y="9163"/>
                    <a:pt x="1548" y="9163"/>
                  </a:cubicBezTo>
                  <a:lnTo>
                    <a:pt x="10448" y="9163"/>
                  </a:lnTo>
                  <a:cubicBezTo>
                    <a:pt x="10458" y="9246"/>
                    <a:pt x="10478" y="9329"/>
                    <a:pt x="10498" y="9402"/>
                  </a:cubicBezTo>
                  <a:lnTo>
                    <a:pt x="10607" y="9693"/>
                  </a:lnTo>
                  <a:lnTo>
                    <a:pt x="10329" y="9568"/>
                  </a:lnTo>
                  <a:cubicBezTo>
                    <a:pt x="9783" y="9308"/>
                    <a:pt x="9099" y="9579"/>
                    <a:pt x="8850" y="10140"/>
                  </a:cubicBezTo>
                  <a:lnTo>
                    <a:pt x="8424" y="11107"/>
                  </a:lnTo>
                  <a:lnTo>
                    <a:pt x="1548" y="11107"/>
                  </a:lnTo>
                  <a:cubicBezTo>
                    <a:pt x="1121" y="11107"/>
                    <a:pt x="774" y="11471"/>
                    <a:pt x="774" y="11919"/>
                  </a:cubicBezTo>
                  <a:lnTo>
                    <a:pt x="774" y="13541"/>
                  </a:lnTo>
                  <a:cubicBezTo>
                    <a:pt x="774" y="13988"/>
                    <a:pt x="1121" y="14352"/>
                    <a:pt x="1548" y="14352"/>
                  </a:cubicBezTo>
                  <a:lnTo>
                    <a:pt x="8503" y="14352"/>
                  </a:lnTo>
                  <a:lnTo>
                    <a:pt x="8553" y="14373"/>
                  </a:lnTo>
                  <a:lnTo>
                    <a:pt x="8265" y="14477"/>
                  </a:lnTo>
                  <a:cubicBezTo>
                    <a:pt x="7700" y="14706"/>
                    <a:pt x="7402" y="15371"/>
                    <a:pt x="7600" y="15985"/>
                  </a:cubicBezTo>
                  <a:lnTo>
                    <a:pt x="7719" y="16297"/>
                  </a:lnTo>
                  <a:lnTo>
                    <a:pt x="1548" y="16297"/>
                  </a:lnTo>
                  <a:cubicBezTo>
                    <a:pt x="1121" y="16297"/>
                    <a:pt x="774" y="16661"/>
                    <a:pt x="774" y="17108"/>
                  </a:cubicBezTo>
                  <a:lnTo>
                    <a:pt x="774" y="18731"/>
                  </a:lnTo>
                  <a:cubicBezTo>
                    <a:pt x="774" y="19178"/>
                    <a:pt x="1121" y="19542"/>
                    <a:pt x="1548" y="19542"/>
                  </a:cubicBezTo>
                  <a:lnTo>
                    <a:pt x="10111" y="19542"/>
                  </a:lnTo>
                  <a:cubicBezTo>
                    <a:pt x="10011" y="19791"/>
                    <a:pt x="10001" y="20072"/>
                    <a:pt x="10081" y="20343"/>
                  </a:cubicBezTo>
                  <a:lnTo>
                    <a:pt x="1548" y="20343"/>
                  </a:lnTo>
                  <a:cubicBezTo>
                    <a:pt x="695" y="20343"/>
                    <a:pt x="0" y="19625"/>
                    <a:pt x="0" y="18731"/>
                  </a:cubicBezTo>
                  <a:lnTo>
                    <a:pt x="0" y="17108"/>
                  </a:lnTo>
                  <a:cubicBezTo>
                    <a:pt x="0" y="17087"/>
                    <a:pt x="10" y="17077"/>
                    <a:pt x="10" y="17056"/>
                  </a:cubicBezTo>
                  <a:lnTo>
                    <a:pt x="407" y="14633"/>
                  </a:lnTo>
                  <a:cubicBezTo>
                    <a:pt x="159" y="14342"/>
                    <a:pt x="0" y="13957"/>
                    <a:pt x="0" y="13541"/>
                  </a:cubicBezTo>
                  <a:lnTo>
                    <a:pt x="0" y="11919"/>
                  </a:lnTo>
                  <a:cubicBezTo>
                    <a:pt x="0" y="11908"/>
                    <a:pt x="10" y="11887"/>
                    <a:pt x="10" y="11877"/>
                  </a:cubicBezTo>
                  <a:lnTo>
                    <a:pt x="407" y="9443"/>
                  </a:lnTo>
                  <a:cubicBezTo>
                    <a:pt x="159" y="9152"/>
                    <a:pt x="0" y="8767"/>
                    <a:pt x="0" y="8351"/>
                  </a:cubicBezTo>
                  <a:lnTo>
                    <a:pt x="0" y="6729"/>
                  </a:lnTo>
                  <a:cubicBezTo>
                    <a:pt x="0" y="6718"/>
                    <a:pt x="10" y="6698"/>
                    <a:pt x="10" y="6687"/>
                  </a:cubicBezTo>
                  <a:lnTo>
                    <a:pt x="1548" y="811"/>
                  </a:lnTo>
                  <a:cubicBezTo>
                    <a:pt x="1597" y="364"/>
                    <a:pt x="2014" y="0"/>
                    <a:pt x="249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" name="文本框 17"/>
            <p:cNvSpPr txBox="1"/>
            <p:nvPr/>
          </p:nvSpPr>
          <p:spPr>
            <a:xfrm>
              <a:off x="5637009" y="998555"/>
              <a:ext cx="1982573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100" b="1">
                  <a:solidFill>
                    <a:srgbClr val="2A64E3"/>
                  </a:solidFill>
                  <a:latin typeface="AlibabaPuHuiTi_2_75_SemiBold"/>
                  <a:ea typeface="AlibabaPuHuiTi_2_75_SemiBold"/>
                  <a:cs typeface="AlibabaPuHuiTi_2_75_SemiBold"/>
                  <a:sym typeface="AlibabaPuHuiTi_2_75_SemiBold"/>
                </a:defRPr>
              </a:pPr>
              <a:r>
                <a:rPr lang="zh-CN" altLang="en-US" sz="1200" dirty="0">
                  <a:solidFill>
                    <a:srgbClr val="004CE5"/>
                  </a:solidFill>
                  <a:latin typeface="+mj-ea"/>
                  <a:ea typeface="+mj-ea"/>
                </a:rPr>
                <a:t>功耗与资源</a:t>
              </a:r>
            </a:p>
          </p:txBody>
        </p:sp>
      </p:grpSp>
      <p:grpSp>
        <p:nvGrpSpPr>
          <p:cNvPr id="21" name="成组"/>
          <p:cNvGrpSpPr/>
          <p:nvPr/>
        </p:nvGrpSpPr>
        <p:grpSpPr>
          <a:xfrm>
            <a:off x="612426" y="1792076"/>
            <a:ext cx="3699007" cy="4440944"/>
            <a:chOff x="-22768" y="0"/>
            <a:chExt cx="2509984" cy="2674035"/>
          </a:xfrm>
        </p:grpSpPr>
        <p:sp>
          <p:nvSpPr>
            <p:cNvPr id="22" name="矩形: 圆角 25"/>
            <p:cNvSpPr/>
            <p:nvPr/>
          </p:nvSpPr>
          <p:spPr>
            <a:xfrm>
              <a:off x="-22768" y="0"/>
              <a:ext cx="2493351" cy="2674035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88900" dist="38100" dir="5400000" rotWithShape="0">
                <a:srgbClr val="3B5463">
                  <a:alpha val="1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" name="任意多边形: 形状 116"/>
            <p:cNvSpPr/>
            <p:nvPr/>
          </p:nvSpPr>
          <p:spPr>
            <a:xfrm>
              <a:off x="999806" y="2518583"/>
              <a:ext cx="493739" cy="155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4167" y="0"/>
                    <a:pt x="17216" y="4335"/>
                    <a:pt x="19423" y="1134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2177" y="11345"/>
                  </a:lnTo>
                  <a:cubicBezTo>
                    <a:pt x="4384" y="4335"/>
                    <a:pt x="7433" y="0"/>
                    <a:pt x="10800" y="0"/>
                  </a:cubicBezTo>
                  <a:close/>
                </a:path>
              </a:pathLst>
            </a:custGeom>
            <a:solidFill>
              <a:srgbClr val="004CE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" name="椭圆 23"/>
            <p:cNvSpPr/>
            <p:nvPr/>
          </p:nvSpPr>
          <p:spPr>
            <a:xfrm>
              <a:off x="949812" y="241465"/>
              <a:ext cx="593727" cy="593727"/>
            </a:xfrm>
            <a:prstGeom prst="ellipse">
              <a:avLst/>
            </a:prstGeom>
            <a:solidFill>
              <a:srgbClr val="004CE5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>
              <a:outerShdw blurRad="254000" dist="63500" dir="5400000" rotWithShape="0">
                <a:srgbClr val="535353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" name="invesment-purse_73104"/>
            <p:cNvSpPr/>
            <p:nvPr/>
          </p:nvSpPr>
          <p:spPr>
            <a:xfrm>
              <a:off x="1089244" y="381134"/>
              <a:ext cx="314862" cy="314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18" y="9918"/>
                  </a:moveTo>
                  <a:lnTo>
                    <a:pt x="18395" y="9918"/>
                  </a:lnTo>
                  <a:cubicBezTo>
                    <a:pt x="17969" y="6446"/>
                    <a:pt x="15183" y="3687"/>
                    <a:pt x="11682" y="3274"/>
                  </a:cubicBezTo>
                  <a:lnTo>
                    <a:pt x="11682" y="882"/>
                  </a:lnTo>
                  <a:cubicBezTo>
                    <a:pt x="11682" y="394"/>
                    <a:pt x="11288" y="0"/>
                    <a:pt x="10800" y="0"/>
                  </a:cubicBezTo>
                  <a:cubicBezTo>
                    <a:pt x="10312" y="0"/>
                    <a:pt x="9918" y="394"/>
                    <a:pt x="9918" y="882"/>
                  </a:cubicBezTo>
                  <a:lnTo>
                    <a:pt x="9918" y="3267"/>
                  </a:lnTo>
                  <a:cubicBezTo>
                    <a:pt x="6388" y="3654"/>
                    <a:pt x="3573" y="6427"/>
                    <a:pt x="3143" y="9918"/>
                  </a:cubicBezTo>
                  <a:lnTo>
                    <a:pt x="882" y="9918"/>
                  </a:lnTo>
                  <a:cubicBezTo>
                    <a:pt x="394" y="9918"/>
                    <a:pt x="0" y="10312"/>
                    <a:pt x="0" y="10800"/>
                  </a:cubicBezTo>
                  <a:cubicBezTo>
                    <a:pt x="0" y="11288"/>
                    <a:pt x="394" y="11682"/>
                    <a:pt x="882" y="11682"/>
                  </a:cubicBezTo>
                  <a:lnTo>
                    <a:pt x="3134" y="11682"/>
                  </a:lnTo>
                  <a:cubicBezTo>
                    <a:pt x="3521" y="15219"/>
                    <a:pt x="6358" y="18034"/>
                    <a:pt x="9918" y="18427"/>
                  </a:cubicBezTo>
                  <a:lnTo>
                    <a:pt x="9918" y="20718"/>
                  </a:lnTo>
                  <a:cubicBezTo>
                    <a:pt x="9918" y="21206"/>
                    <a:pt x="10312" y="21600"/>
                    <a:pt x="10800" y="21600"/>
                  </a:cubicBezTo>
                  <a:cubicBezTo>
                    <a:pt x="11288" y="21600"/>
                    <a:pt x="11682" y="21206"/>
                    <a:pt x="11682" y="20718"/>
                  </a:cubicBezTo>
                  <a:lnTo>
                    <a:pt x="11682" y="18418"/>
                  </a:lnTo>
                  <a:cubicBezTo>
                    <a:pt x="15216" y="18001"/>
                    <a:pt x="18017" y="15199"/>
                    <a:pt x="18408" y="11682"/>
                  </a:cubicBezTo>
                  <a:lnTo>
                    <a:pt x="20718" y="11682"/>
                  </a:lnTo>
                  <a:cubicBezTo>
                    <a:pt x="21206" y="11682"/>
                    <a:pt x="21600" y="11288"/>
                    <a:pt x="21600" y="10800"/>
                  </a:cubicBezTo>
                  <a:cubicBezTo>
                    <a:pt x="21600" y="10312"/>
                    <a:pt x="21206" y="9918"/>
                    <a:pt x="20718" y="9918"/>
                  </a:cubicBezTo>
                  <a:close/>
                  <a:moveTo>
                    <a:pt x="11682" y="16634"/>
                  </a:moveTo>
                  <a:lnTo>
                    <a:pt x="11682" y="13725"/>
                  </a:lnTo>
                  <a:cubicBezTo>
                    <a:pt x="11682" y="13240"/>
                    <a:pt x="11288" y="12844"/>
                    <a:pt x="10800" y="12844"/>
                  </a:cubicBezTo>
                  <a:cubicBezTo>
                    <a:pt x="10312" y="12844"/>
                    <a:pt x="9918" y="13240"/>
                    <a:pt x="9918" y="13725"/>
                  </a:cubicBezTo>
                  <a:lnTo>
                    <a:pt x="9918" y="16644"/>
                  </a:lnTo>
                  <a:cubicBezTo>
                    <a:pt x="7331" y="16273"/>
                    <a:pt x="5288" y="14243"/>
                    <a:pt x="4917" y="11682"/>
                  </a:cubicBezTo>
                  <a:lnTo>
                    <a:pt x="7875" y="11682"/>
                  </a:lnTo>
                  <a:cubicBezTo>
                    <a:pt x="8363" y="11682"/>
                    <a:pt x="8756" y="11288"/>
                    <a:pt x="8756" y="10800"/>
                  </a:cubicBezTo>
                  <a:cubicBezTo>
                    <a:pt x="8756" y="10315"/>
                    <a:pt x="8363" y="9918"/>
                    <a:pt x="7875" y="9918"/>
                  </a:cubicBezTo>
                  <a:lnTo>
                    <a:pt x="4930" y="9918"/>
                  </a:lnTo>
                  <a:cubicBezTo>
                    <a:pt x="5337" y="7400"/>
                    <a:pt x="7364" y="5418"/>
                    <a:pt x="9918" y="5050"/>
                  </a:cubicBezTo>
                  <a:lnTo>
                    <a:pt x="9918" y="7875"/>
                  </a:lnTo>
                  <a:cubicBezTo>
                    <a:pt x="9918" y="8363"/>
                    <a:pt x="10315" y="8756"/>
                    <a:pt x="10800" y="8756"/>
                  </a:cubicBezTo>
                  <a:cubicBezTo>
                    <a:pt x="11288" y="8756"/>
                    <a:pt x="11682" y="8363"/>
                    <a:pt x="11682" y="7875"/>
                  </a:cubicBezTo>
                  <a:lnTo>
                    <a:pt x="11682" y="5060"/>
                  </a:lnTo>
                  <a:cubicBezTo>
                    <a:pt x="14207" y="5450"/>
                    <a:pt x="16205" y="7419"/>
                    <a:pt x="16608" y="9918"/>
                  </a:cubicBezTo>
                  <a:lnTo>
                    <a:pt x="13725" y="9918"/>
                  </a:lnTo>
                  <a:cubicBezTo>
                    <a:pt x="13237" y="9918"/>
                    <a:pt x="12844" y="10315"/>
                    <a:pt x="12844" y="10800"/>
                  </a:cubicBezTo>
                  <a:cubicBezTo>
                    <a:pt x="12844" y="11288"/>
                    <a:pt x="13237" y="11682"/>
                    <a:pt x="13725" y="11682"/>
                  </a:cubicBezTo>
                  <a:lnTo>
                    <a:pt x="16625" y="11682"/>
                  </a:lnTo>
                  <a:cubicBezTo>
                    <a:pt x="16254" y="14223"/>
                    <a:pt x="14239" y="16241"/>
                    <a:pt x="11682" y="1663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" name="文本框 17"/>
            <p:cNvSpPr txBox="1"/>
            <p:nvPr/>
          </p:nvSpPr>
          <p:spPr>
            <a:xfrm>
              <a:off x="44234" y="1402406"/>
              <a:ext cx="2442982" cy="696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50000"/>
                </a:lnSpc>
                <a:defRPr sz="1000">
                  <a:solidFill>
                    <a:srgbClr val="808080"/>
                  </a:solidFill>
                </a:defRPr>
              </a:pPr>
              <a:r>
                <a:rPr lang="en-US" altLang="zh-CN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mAP@0.5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达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0.97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，端到端延迟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14ms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，抖动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&lt;1%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1080p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帧率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60hz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，满足交通场景实时检测需求。</a:t>
              </a:r>
            </a:p>
          </p:txBody>
        </p:sp>
        <p:sp>
          <p:nvSpPr>
            <p:cNvPr id="27" name="文本框 17"/>
            <p:cNvSpPr txBox="1"/>
            <p:nvPr/>
          </p:nvSpPr>
          <p:spPr>
            <a:xfrm>
              <a:off x="274439" y="992044"/>
              <a:ext cx="1982573" cy="2743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100" b="1">
                  <a:solidFill>
                    <a:srgbClr val="2A64E3"/>
                  </a:solidFill>
                  <a:latin typeface="AlibabaPuHuiTi_2_75_SemiBold"/>
                  <a:ea typeface="AlibabaPuHuiTi_2_75_SemiBold"/>
                  <a:cs typeface="AlibabaPuHuiTi_2_75_SemiBold"/>
                  <a:sym typeface="AlibabaPuHuiTi_2_75_SemiBold"/>
                </a:defRPr>
              </a:pPr>
              <a:r>
                <a:rPr lang="zh-CN" altLang="en-US" sz="1200" dirty="0">
                  <a:solidFill>
                    <a:srgbClr val="004CE5"/>
                  </a:solidFill>
                  <a:latin typeface="+mj-ea"/>
                  <a:ea typeface="+mj-ea"/>
                </a:rPr>
                <a:t>精度与实时性</a:t>
              </a:r>
            </a:p>
          </p:txBody>
        </p:sp>
      </p:grpSp>
      <p:grpSp>
        <p:nvGrpSpPr>
          <p:cNvPr id="28" name="成组"/>
          <p:cNvGrpSpPr/>
          <p:nvPr/>
        </p:nvGrpSpPr>
        <p:grpSpPr>
          <a:xfrm>
            <a:off x="8321684" y="1792076"/>
            <a:ext cx="3607184" cy="4440944"/>
            <a:chOff x="0" y="0"/>
            <a:chExt cx="2493351" cy="2674035"/>
          </a:xfrm>
        </p:grpSpPr>
        <p:sp>
          <p:nvSpPr>
            <p:cNvPr id="29" name="矩形: 圆角 27"/>
            <p:cNvSpPr/>
            <p:nvPr/>
          </p:nvSpPr>
          <p:spPr>
            <a:xfrm>
              <a:off x="0" y="0"/>
              <a:ext cx="2493351" cy="2674035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88900" dist="38100" dir="5400000" rotWithShape="0">
                <a:srgbClr val="3B5463">
                  <a:alpha val="1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任意多边形: 形状 118"/>
            <p:cNvSpPr/>
            <p:nvPr/>
          </p:nvSpPr>
          <p:spPr>
            <a:xfrm>
              <a:off x="999805" y="2518583"/>
              <a:ext cx="493739" cy="155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4167" y="0"/>
                    <a:pt x="17216" y="4335"/>
                    <a:pt x="19423" y="1134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2177" y="11345"/>
                  </a:lnTo>
                  <a:cubicBezTo>
                    <a:pt x="4384" y="4335"/>
                    <a:pt x="7433" y="0"/>
                    <a:pt x="10800" y="0"/>
                  </a:cubicBezTo>
                  <a:close/>
                </a:path>
              </a:pathLst>
            </a:custGeom>
            <a:solidFill>
              <a:srgbClr val="004CE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椭圆 25"/>
            <p:cNvSpPr/>
            <p:nvPr/>
          </p:nvSpPr>
          <p:spPr>
            <a:xfrm>
              <a:off x="949812" y="241465"/>
              <a:ext cx="593727" cy="593727"/>
            </a:xfrm>
            <a:prstGeom prst="ellipse">
              <a:avLst/>
            </a:prstGeom>
            <a:solidFill>
              <a:srgbClr val="004CE5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>
              <a:outerShdw blurRad="254000" dist="63500" dir="5400000" rotWithShape="0">
                <a:srgbClr val="535353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" name="invesment-purse_73104"/>
            <p:cNvSpPr/>
            <p:nvPr/>
          </p:nvSpPr>
          <p:spPr>
            <a:xfrm>
              <a:off x="1096143" y="359586"/>
              <a:ext cx="301064" cy="3574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504" y="2291"/>
                  </a:moveTo>
                  <a:lnTo>
                    <a:pt x="13504" y="15927"/>
                  </a:lnTo>
                  <a:lnTo>
                    <a:pt x="8096" y="15927"/>
                  </a:lnTo>
                  <a:lnTo>
                    <a:pt x="8096" y="2291"/>
                  </a:lnTo>
                  <a:cubicBezTo>
                    <a:pt x="8096" y="1655"/>
                    <a:pt x="8361" y="1113"/>
                    <a:pt x="8889" y="668"/>
                  </a:cubicBezTo>
                  <a:cubicBezTo>
                    <a:pt x="9420" y="223"/>
                    <a:pt x="10051" y="0"/>
                    <a:pt x="10784" y="0"/>
                  </a:cubicBezTo>
                  <a:cubicBezTo>
                    <a:pt x="11541" y="0"/>
                    <a:pt x="12182" y="223"/>
                    <a:pt x="12711" y="668"/>
                  </a:cubicBezTo>
                  <a:cubicBezTo>
                    <a:pt x="13241" y="1113"/>
                    <a:pt x="13504" y="1655"/>
                    <a:pt x="13504" y="2291"/>
                  </a:cubicBezTo>
                  <a:close/>
                  <a:moveTo>
                    <a:pt x="20240" y="6818"/>
                  </a:moveTo>
                  <a:lnTo>
                    <a:pt x="20240" y="15927"/>
                  </a:lnTo>
                  <a:lnTo>
                    <a:pt x="14832" y="15927"/>
                  </a:lnTo>
                  <a:lnTo>
                    <a:pt x="14832" y="6818"/>
                  </a:lnTo>
                  <a:cubicBezTo>
                    <a:pt x="14832" y="6199"/>
                    <a:pt x="15097" y="5668"/>
                    <a:pt x="15625" y="5223"/>
                  </a:cubicBezTo>
                  <a:cubicBezTo>
                    <a:pt x="16155" y="4778"/>
                    <a:pt x="16797" y="4555"/>
                    <a:pt x="17552" y="4555"/>
                  </a:cubicBezTo>
                  <a:cubicBezTo>
                    <a:pt x="18287" y="4555"/>
                    <a:pt x="18918" y="4773"/>
                    <a:pt x="19446" y="5209"/>
                  </a:cubicBezTo>
                  <a:cubicBezTo>
                    <a:pt x="19977" y="5645"/>
                    <a:pt x="20240" y="6182"/>
                    <a:pt x="20240" y="6818"/>
                  </a:cubicBezTo>
                  <a:close/>
                  <a:moveTo>
                    <a:pt x="6736" y="10227"/>
                  </a:moveTo>
                  <a:lnTo>
                    <a:pt x="6736" y="15927"/>
                  </a:lnTo>
                  <a:lnTo>
                    <a:pt x="1360" y="15927"/>
                  </a:lnTo>
                  <a:lnTo>
                    <a:pt x="1360" y="10227"/>
                  </a:lnTo>
                  <a:cubicBezTo>
                    <a:pt x="1360" y="9609"/>
                    <a:pt x="1619" y="9077"/>
                    <a:pt x="2137" y="8632"/>
                  </a:cubicBezTo>
                  <a:cubicBezTo>
                    <a:pt x="2655" y="8187"/>
                    <a:pt x="3293" y="7964"/>
                    <a:pt x="4048" y="7964"/>
                  </a:cubicBezTo>
                  <a:cubicBezTo>
                    <a:pt x="4805" y="7964"/>
                    <a:pt x="5440" y="8187"/>
                    <a:pt x="5959" y="8632"/>
                  </a:cubicBezTo>
                  <a:cubicBezTo>
                    <a:pt x="6477" y="9077"/>
                    <a:pt x="6736" y="9609"/>
                    <a:pt x="6736" y="10227"/>
                  </a:cubicBezTo>
                  <a:close/>
                  <a:moveTo>
                    <a:pt x="20240" y="19336"/>
                  </a:moveTo>
                  <a:cubicBezTo>
                    <a:pt x="20608" y="19336"/>
                    <a:pt x="20926" y="19445"/>
                    <a:pt x="21195" y="19664"/>
                  </a:cubicBezTo>
                  <a:cubicBezTo>
                    <a:pt x="21466" y="19882"/>
                    <a:pt x="21600" y="20146"/>
                    <a:pt x="21600" y="20455"/>
                  </a:cubicBezTo>
                  <a:cubicBezTo>
                    <a:pt x="21600" y="20763"/>
                    <a:pt x="21466" y="21032"/>
                    <a:pt x="21195" y="21259"/>
                  </a:cubicBezTo>
                  <a:cubicBezTo>
                    <a:pt x="20926" y="21486"/>
                    <a:pt x="20608" y="21600"/>
                    <a:pt x="20240" y="21600"/>
                  </a:cubicBezTo>
                  <a:lnTo>
                    <a:pt x="1360" y="21600"/>
                  </a:lnTo>
                  <a:cubicBezTo>
                    <a:pt x="994" y="21600"/>
                    <a:pt x="676" y="21486"/>
                    <a:pt x="405" y="21259"/>
                  </a:cubicBezTo>
                  <a:cubicBezTo>
                    <a:pt x="136" y="21032"/>
                    <a:pt x="0" y="20763"/>
                    <a:pt x="0" y="20455"/>
                  </a:cubicBezTo>
                  <a:cubicBezTo>
                    <a:pt x="0" y="20146"/>
                    <a:pt x="136" y="19882"/>
                    <a:pt x="405" y="19664"/>
                  </a:cubicBezTo>
                  <a:cubicBezTo>
                    <a:pt x="676" y="19445"/>
                    <a:pt x="994" y="19336"/>
                    <a:pt x="1360" y="19336"/>
                  </a:cubicBezTo>
                  <a:lnTo>
                    <a:pt x="20240" y="1933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" name="文本框 17"/>
            <p:cNvSpPr txBox="1"/>
            <p:nvPr/>
          </p:nvSpPr>
          <p:spPr>
            <a:xfrm>
              <a:off x="38302" y="1337017"/>
              <a:ext cx="2416745" cy="9189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l">
                <a:lnSpc>
                  <a:spcPct val="150000"/>
                </a:lnSpc>
                <a:defRPr sz="1000">
                  <a:solidFill>
                    <a:srgbClr val="808080"/>
                  </a:solidFill>
                </a:defRPr>
              </a:pP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代码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PG2L50H/100H/200H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</a:rPr>
                <a:t>全系兼容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，跨厂商与跨平台移植，紫光与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Xilinx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平台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</a:rPr>
                <a:t>双向互通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，同架构高端器件延迟可降至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9ms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，升级收益明确。</a:t>
              </a:r>
            </a:p>
          </p:txBody>
        </p:sp>
        <p:sp>
          <p:nvSpPr>
            <p:cNvPr id="34" name="文本框 17"/>
            <p:cNvSpPr txBox="1"/>
            <p:nvPr/>
          </p:nvSpPr>
          <p:spPr>
            <a:xfrm>
              <a:off x="255820" y="1012897"/>
              <a:ext cx="1982573" cy="2743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100" b="1">
                  <a:solidFill>
                    <a:srgbClr val="2A64E3"/>
                  </a:solidFill>
                  <a:latin typeface="AlibabaPuHuiTi_2_75_SemiBold"/>
                  <a:ea typeface="AlibabaPuHuiTi_2_75_SemiBold"/>
                  <a:cs typeface="AlibabaPuHuiTi_2_75_SemiBold"/>
                  <a:sym typeface="AlibabaPuHuiTi_2_75_SemiBold"/>
                </a:defRPr>
              </a:pPr>
              <a:r>
                <a:rPr lang="zh-CN" altLang="en-US" sz="1200" dirty="0">
                  <a:latin typeface="+mj-ea"/>
                  <a:ea typeface="+mj-ea"/>
                  <a:cs typeface="HarmonyOS Sans SC" panose="00000A00000000000000" charset="-122"/>
                </a:rPr>
                <a:t>器件兼容与升级路径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ldLvl="0" animBg="1" advAuto="0"/>
      <p:bldP spid="5" grpId="2" bldLvl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详细指标表格</a:t>
            </a:r>
            <a:endParaRPr lang="zh-CN" dirty="0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Shape 1645"/>
          <p:cNvSpPr/>
          <p:nvPr>
            <p:custDataLst>
              <p:tags r:id="rId2"/>
            </p:custDataLst>
          </p:nvPr>
        </p:nvSpPr>
        <p:spPr>
          <a:xfrm>
            <a:off x="8119709" y="4527979"/>
            <a:ext cx="326159" cy="310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0" h="21558" extrusionOk="0">
                <a:moveTo>
                  <a:pt x="2441" y="17336"/>
                </a:moveTo>
                <a:cubicBezTo>
                  <a:pt x="2748" y="17336"/>
                  <a:pt x="2997" y="17596"/>
                  <a:pt x="2997" y="17918"/>
                </a:cubicBezTo>
                <a:cubicBezTo>
                  <a:pt x="2997" y="18240"/>
                  <a:pt x="2748" y="18501"/>
                  <a:pt x="2441" y="18501"/>
                </a:cubicBezTo>
                <a:cubicBezTo>
                  <a:pt x="2135" y="18501"/>
                  <a:pt x="1886" y="18240"/>
                  <a:pt x="1886" y="17918"/>
                </a:cubicBezTo>
                <a:cubicBezTo>
                  <a:pt x="1886" y="17596"/>
                  <a:pt x="2135" y="17336"/>
                  <a:pt x="2441" y="17336"/>
                </a:cubicBezTo>
                <a:close/>
                <a:moveTo>
                  <a:pt x="2441" y="12146"/>
                </a:moveTo>
                <a:cubicBezTo>
                  <a:pt x="2748" y="12146"/>
                  <a:pt x="2997" y="12407"/>
                  <a:pt x="2997" y="12729"/>
                </a:cubicBezTo>
                <a:cubicBezTo>
                  <a:pt x="2997" y="13051"/>
                  <a:pt x="2748" y="13312"/>
                  <a:pt x="2441" y="13312"/>
                </a:cubicBezTo>
                <a:cubicBezTo>
                  <a:pt x="2135" y="13312"/>
                  <a:pt x="1886" y="13051"/>
                  <a:pt x="1886" y="12729"/>
                </a:cubicBezTo>
                <a:cubicBezTo>
                  <a:pt x="1886" y="12407"/>
                  <a:pt x="2135" y="12146"/>
                  <a:pt x="2441" y="12146"/>
                </a:cubicBezTo>
                <a:close/>
                <a:moveTo>
                  <a:pt x="15676" y="11128"/>
                </a:moveTo>
                <a:cubicBezTo>
                  <a:pt x="14436" y="10961"/>
                  <a:pt x="13503" y="11252"/>
                  <a:pt x="13096" y="12053"/>
                </a:cubicBezTo>
                <a:cubicBezTo>
                  <a:pt x="12690" y="12854"/>
                  <a:pt x="12660" y="13561"/>
                  <a:pt x="12690" y="13686"/>
                </a:cubicBezTo>
                <a:cubicBezTo>
                  <a:pt x="12719" y="13821"/>
                  <a:pt x="12858" y="14060"/>
                  <a:pt x="12858" y="14060"/>
                </a:cubicBezTo>
                <a:cubicBezTo>
                  <a:pt x="12858" y="14060"/>
                  <a:pt x="12233" y="15069"/>
                  <a:pt x="12273" y="15235"/>
                </a:cubicBezTo>
                <a:cubicBezTo>
                  <a:pt x="12312" y="15402"/>
                  <a:pt x="12739" y="15485"/>
                  <a:pt x="12739" y="15485"/>
                </a:cubicBezTo>
                <a:cubicBezTo>
                  <a:pt x="12739" y="15485"/>
                  <a:pt x="12779" y="15599"/>
                  <a:pt x="12699" y="15818"/>
                </a:cubicBezTo>
                <a:cubicBezTo>
                  <a:pt x="12620" y="16047"/>
                  <a:pt x="12848" y="16296"/>
                  <a:pt x="12908" y="16390"/>
                </a:cubicBezTo>
                <a:cubicBezTo>
                  <a:pt x="12977" y="16483"/>
                  <a:pt x="12819" y="16754"/>
                  <a:pt x="12868" y="16910"/>
                </a:cubicBezTo>
                <a:cubicBezTo>
                  <a:pt x="12928" y="17066"/>
                  <a:pt x="13186" y="17253"/>
                  <a:pt x="13483" y="17211"/>
                </a:cubicBezTo>
                <a:cubicBezTo>
                  <a:pt x="13771" y="17180"/>
                  <a:pt x="14158" y="17107"/>
                  <a:pt x="14287" y="17076"/>
                </a:cubicBezTo>
                <a:cubicBezTo>
                  <a:pt x="14585" y="17815"/>
                  <a:pt x="13870" y="18189"/>
                  <a:pt x="13870" y="18189"/>
                </a:cubicBezTo>
                <a:lnTo>
                  <a:pt x="17661" y="18189"/>
                </a:lnTo>
                <a:cubicBezTo>
                  <a:pt x="17661" y="18189"/>
                  <a:pt x="16559" y="17263"/>
                  <a:pt x="16579" y="16255"/>
                </a:cubicBezTo>
                <a:cubicBezTo>
                  <a:pt x="16589" y="15683"/>
                  <a:pt x="17661" y="14965"/>
                  <a:pt x="17651" y="13395"/>
                </a:cubicBezTo>
                <a:cubicBezTo>
                  <a:pt x="17651" y="12604"/>
                  <a:pt x="16917" y="11294"/>
                  <a:pt x="15676" y="11128"/>
                </a:cubicBezTo>
                <a:close/>
                <a:moveTo>
                  <a:pt x="13950" y="7737"/>
                </a:moveTo>
                <a:cubicBezTo>
                  <a:pt x="14108" y="7675"/>
                  <a:pt x="14277" y="7758"/>
                  <a:pt x="14337" y="7925"/>
                </a:cubicBezTo>
                <a:lnTo>
                  <a:pt x="14744" y="9079"/>
                </a:lnTo>
                <a:cubicBezTo>
                  <a:pt x="14803" y="9245"/>
                  <a:pt x="15150" y="9381"/>
                  <a:pt x="15269" y="9381"/>
                </a:cubicBezTo>
                <a:cubicBezTo>
                  <a:pt x="15379" y="9391"/>
                  <a:pt x="15527" y="9266"/>
                  <a:pt x="15597" y="9121"/>
                </a:cubicBezTo>
                <a:lnTo>
                  <a:pt x="16093" y="7987"/>
                </a:lnTo>
                <a:cubicBezTo>
                  <a:pt x="16153" y="7841"/>
                  <a:pt x="16331" y="7769"/>
                  <a:pt x="16480" y="7841"/>
                </a:cubicBezTo>
                <a:lnTo>
                  <a:pt x="18901" y="9006"/>
                </a:lnTo>
                <a:cubicBezTo>
                  <a:pt x="19050" y="9079"/>
                  <a:pt x="19119" y="9266"/>
                  <a:pt x="19050" y="9422"/>
                </a:cubicBezTo>
                <a:lnTo>
                  <a:pt x="18554" y="10545"/>
                </a:lnTo>
                <a:cubicBezTo>
                  <a:pt x="18484" y="10701"/>
                  <a:pt x="18643" y="11055"/>
                  <a:pt x="18713" y="11148"/>
                </a:cubicBezTo>
                <a:cubicBezTo>
                  <a:pt x="18792" y="11232"/>
                  <a:pt x="18971" y="11263"/>
                  <a:pt x="19129" y="11200"/>
                </a:cubicBezTo>
                <a:lnTo>
                  <a:pt x="20241" y="10774"/>
                </a:lnTo>
                <a:cubicBezTo>
                  <a:pt x="20389" y="10712"/>
                  <a:pt x="20568" y="10795"/>
                  <a:pt x="20618" y="10961"/>
                </a:cubicBezTo>
                <a:lnTo>
                  <a:pt x="21540" y="13582"/>
                </a:lnTo>
                <a:cubicBezTo>
                  <a:pt x="21600" y="13738"/>
                  <a:pt x="21521" y="13925"/>
                  <a:pt x="21372" y="13977"/>
                </a:cubicBezTo>
                <a:lnTo>
                  <a:pt x="20260" y="14414"/>
                </a:lnTo>
                <a:cubicBezTo>
                  <a:pt x="20102" y="14466"/>
                  <a:pt x="19983" y="14612"/>
                  <a:pt x="19983" y="14736"/>
                </a:cubicBezTo>
                <a:cubicBezTo>
                  <a:pt x="19983" y="14851"/>
                  <a:pt x="20082" y="15225"/>
                  <a:pt x="20231" y="15298"/>
                </a:cubicBezTo>
                <a:lnTo>
                  <a:pt x="21302" y="15818"/>
                </a:lnTo>
                <a:cubicBezTo>
                  <a:pt x="21451" y="15891"/>
                  <a:pt x="21511" y="16078"/>
                  <a:pt x="21441" y="16223"/>
                </a:cubicBezTo>
                <a:lnTo>
                  <a:pt x="20330" y="18771"/>
                </a:lnTo>
                <a:cubicBezTo>
                  <a:pt x="20260" y="18927"/>
                  <a:pt x="20082" y="18990"/>
                  <a:pt x="19933" y="18917"/>
                </a:cubicBezTo>
                <a:lnTo>
                  <a:pt x="18861" y="18397"/>
                </a:lnTo>
                <a:cubicBezTo>
                  <a:pt x="18713" y="18335"/>
                  <a:pt x="18375" y="18491"/>
                  <a:pt x="18286" y="18574"/>
                </a:cubicBezTo>
                <a:cubicBezTo>
                  <a:pt x="18206" y="18647"/>
                  <a:pt x="18177" y="18844"/>
                  <a:pt x="18236" y="19000"/>
                </a:cubicBezTo>
                <a:lnTo>
                  <a:pt x="18643" y="20165"/>
                </a:lnTo>
                <a:cubicBezTo>
                  <a:pt x="18703" y="20331"/>
                  <a:pt x="18623" y="20508"/>
                  <a:pt x="18474" y="20570"/>
                </a:cubicBezTo>
                <a:lnTo>
                  <a:pt x="15964" y="21538"/>
                </a:lnTo>
                <a:cubicBezTo>
                  <a:pt x="15815" y="21600"/>
                  <a:pt x="15637" y="21517"/>
                  <a:pt x="15587" y="21350"/>
                </a:cubicBezTo>
                <a:lnTo>
                  <a:pt x="15180" y="20186"/>
                </a:lnTo>
                <a:cubicBezTo>
                  <a:pt x="15121" y="20030"/>
                  <a:pt x="14773" y="19894"/>
                  <a:pt x="14664" y="19884"/>
                </a:cubicBezTo>
                <a:cubicBezTo>
                  <a:pt x="14545" y="19884"/>
                  <a:pt x="14396" y="19998"/>
                  <a:pt x="14327" y="20154"/>
                </a:cubicBezTo>
                <a:lnTo>
                  <a:pt x="13831" y="21278"/>
                </a:lnTo>
                <a:cubicBezTo>
                  <a:pt x="13771" y="21434"/>
                  <a:pt x="13592" y="21506"/>
                  <a:pt x="13444" y="21434"/>
                </a:cubicBezTo>
                <a:lnTo>
                  <a:pt x="11013" y="20258"/>
                </a:lnTo>
                <a:cubicBezTo>
                  <a:pt x="10874" y="20186"/>
                  <a:pt x="10804" y="19998"/>
                  <a:pt x="10874" y="19842"/>
                </a:cubicBezTo>
                <a:lnTo>
                  <a:pt x="11370" y="18730"/>
                </a:lnTo>
                <a:cubicBezTo>
                  <a:pt x="11439" y="18563"/>
                  <a:pt x="11281" y="18220"/>
                  <a:pt x="11211" y="18127"/>
                </a:cubicBezTo>
                <a:cubicBezTo>
                  <a:pt x="11132" y="18033"/>
                  <a:pt x="10943" y="18012"/>
                  <a:pt x="10794" y="18064"/>
                </a:cubicBezTo>
                <a:lnTo>
                  <a:pt x="9683" y="18501"/>
                </a:lnTo>
                <a:cubicBezTo>
                  <a:pt x="9534" y="18563"/>
                  <a:pt x="9356" y="18470"/>
                  <a:pt x="9306" y="18314"/>
                </a:cubicBezTo>
                <a:lnTo>
                  <a:pt x="8373" y="15693"/>
                </a:lnTo>
                <a:cubicBezTo>
                  <a:pt x="8324" y="15527"/>
                  <a:pt x="8403" y="15350"/>
                  <a:pt x="8552" y="15287"/>
                </a:cubicBezTo>
                <a:lnTo>
                  <a:pt x="9663" y="14861"/>
                </a:lnTo>
                <a:cubicBezTo>
                  <a:pt x="9812" y="14799"/>
                  <a:pt x="9941" y="14435"/>
                  <a:pt x="9951" y="14320"/>
                </a:cubicBezTo>
                <a:cubicBezTo>
                  <a:pt x="9961" y="14206"/>
                  <a:pt x="9842" y="14040"/>
                  <a:pt x="9693" y="13977"/>
                </a:cubicBezTo>
                <a:lnTo>
                  <a:pt x="8621" y="13457"/>
                </a:lnTo>
                <a:cubicBezTo>
                  <a:pt x="8472" y="13384"/>
                  <a:pt x="8413" y="13197"/>
                  <a:pt x="8482" y="13041"/>
                </a:cubicBezTo>
                <a:lnTo>
                  <a:pt x="9594" y="10504"/>
                </a:lnTo>
                <a:cubicBezTo>
                  <a:pt x="9663" y="10348"/>
                  <a:pt x="9842" y="10285"/>
                  <a:pt x="9991" y="10348"/>
                </a:cubicBezTo>
                <a:lnTo>
                  <a:pt x="11062" y="10868"/>
                </a:lnTo>
                <a:cubicBezTo>
                  <a:pt x="11211" y="10940"/>
                  <a:pt x="11548" y="10774"/>
                  <a:pt x="11628" y="10701"/>
                </a:cubicBezTo>
                <a:cubicBezTo>
                  <a:pt x="11717" y="10628"/>
                  <a:pt x="11737" y="10431"/>
                  <a:pt x="11687" y="10275"/>
                </a:cubicBezTo>
                <a:lnTo>
                  <a:pt x="11271" y="9110"/>
                </a:lnTo>
                <a:cubicBezTo>
                  <a:pt x="11221" y="8944"/>
                  <a:pt x="11300" y="8767"/>
                  <a:pt x="11449" y="8705"/>
                </a:cubicBezTo>
                <a:close/>
                <a:moveTo>
                  <a:pt x="2441" y="6957"/>
                </a:moveTo>
                <a:cubicBezTo>
                  <a:pt x="2748" y="6957"/>
                  <a:pt x="2997" y="7218"/>
                  <a:pt x="2997" y="7540"/>
                </a:cubicBezTo>
                <a:cubicBezTo>
                  <a:pt x="2997" y="7862"/>
                  <a:pt x="2748" y="8123"/>
                  <a:pt x="2441" y="8123"/>
                </a:cubicBezTo>
                <a:cubicBezTo>
                  <a:pt x="2135" y="8123"/>
                  <a:pt x="1886" y="7862"/>
                  <a:pt x="1886" y="7540"/>
                </a:cubicBezTo>
                <a:cubicBezTo>
                  <a:pt x="1886" y="7218"/>
                  <a:pt x="2135" y="6957"/>
                  <a:pt x="2441" y="6957"/>
                </a:cubicBezTo>
                <a:close/>
                <a:moveTo>
                  <a:pt x="2490" y="0"/>
                </a:moveTo>
                <a:lnTo>
                  <a:pt x="14496" y="0"/>
                </a:lnTo>
                <a:cubicBezTo>
                  <a:pt x="14962" y="0"/>
                  <a:pt x="15389" y="364"/>
                  <a:pt x="15439" y="811"/>
                </a:cubicBezTo>
                <a:lnTo>
                  <a:pt x="16977" y="6687"/>
                </a:lnTo>
                <a:cubicBezTo>
                  <a:pt x="16977" y="6698"/>
                  <a:pt x="16987" y="6718"/>
                  <a:pt x="16987" y="6729"/>
                </a:cubicBezTo>
                <a:lnTo>
                  <a:pt x="16987" y="7134"/>
                </a:lnTo>
                <a:lnTo>
                  <a:pt x="16828" y="7051"/>
                </a:lnTo>
                <a:cubicBezTo>
                  <a:pt x="16629" y="6958"/>
                  <a:pt x="16421" y="6937"/>
                  <a:pt x="16213" y="6968"/>
                </a:cubicBezTo>
                <a:lnTo>
                  <a:pt x="16213" y="6729"/>
                </a:lnTo>
                <a:cubicBezTo>
                  <a:pt x="16213" y="6292"/>
                  <a:pt x="15865" y="5928"/>
                  <a:pt x="15439" y="5928"/>
                </a:cubicBezTo>
                <a:lnTo>
                  <a:pt x="1548" y="5928"/>
                </a:lnTo>
                <a:cubicBezTo>
                  <a:pt x="1121" y="5928"/>
                  <a:pt x="774" y="6292"/>
                  <a:pt x="774" y="6729"/>
                </a:cubicBezTo>
                <a:lnTo>
                  <a:pt x="774" y="8351"/>
                </a:lnTo>
                <a:cubicBezTo>
                  <a:pt x="774" y="8799"/>
                  <a:pt x="1121" y="9163"/>
                  <a:pt x="1548" y="9163"/>
                </a:cubicBezTo>
                <a:lnTo>
                  <a:pt x="10448" y="9163"/>
                </a:lnTo>
                <a:cubicBezTo>
                  <a:pt x="10458" y="9246"/>
                  <a:pt x="10478" y="9329"/>
                  <a:pt x="10498" y="9402"/>
                </a:cubicBezTo>
                <a:lnTo>
                  <a:pt x="10607" y="9693"/>
                </a:lnTo>
                <a:lnTo>
                  <a:pt x="10329" y="9568"/>
                </a:lnTo>
                <a:cubicBezTo>
                  <a:pt x="9783" y="9308"/>
                  <a:pt x="9099" y="9579"/>
                  <a:pt x="8850" y="10140"/>
                </a:cubicBezTo>
                <a:lnTo>
                  <a:pt x="8424" y="11107"/>
                </a:lnTo>
                <a:lnTo>
                  <a:pt x="1548" y="11107"/>
                </a:lnTo>
                <a:cubicBezTo>
                  <a:pt x="1121" y="11107"/>
                  <a:pt x="774" y="11471"/>
                  <a:pt x="774" y="11919"/>
                </a:cubicBezTo>
                <a:lnTo>
                  <a:pt x="774" y="13541"/>
                </a:lnTo>
                <a:cubicBezTo>
                  <a:pt x="774" y="13988"/>
                  <a:pt x="1121" y="14352"/>
                  <a:pt x="1548" y="14352"/>
                </a:cubicBezTo>
                <a:lnTo>
                  <a:pt x="8503" y="14352"/>
                </a:lnTo>
                <a:lnTo>
                  <a:pt x="8553" y="14373"/>
                </a:lnTo>
                <a:lnTo>
                  <a:pt x="8265" y="14477"/>
                </a:lnTo>
                <a:cubicBezTo>
                  <a:pt x="7700" y="14706"/>
                  <a:pt x="7402" y="15371"/>
                  <a:pt x="7600" y="15985"/>
                </a:cubicBezTo>
                <a:lnTo>
                  <a:pt x="7719" y="16297"/>
                </a:lnTo>
                <a:lnTo>
                  <a:pt x="1548" y="16297"/>
                </a:lnTo>
                <a:cubicBezTo>
                  <a:pt x="1121" y="16297"/>
                  <a:pt x="774" y="16661"/>
                  <a:pt x="774" y="17108"/>
                </a:cubicBezTo>
                <a:lnTo>
                  <a:pt x="774" y="18731"/>
                </a:lnTo>
                <a:cubicBezTo>
                  <a:pt x="774" y="19178"/>
                  <a:pt x="1121" y="19542"/>
                  <a:pt x="1548" y="19542"/>
                </a:cubicBezTo>
                <a:lnTo>
                  <a:pt x="10111" y="19542"/>
                </a:lnTo>
                <a:cubicBezTo>
                  <a:pt x="10011" y="19791"/>
                  <a:pt x="10001" y="20072"/>
                  <a:pt x="10081" y="20343"/>
                </a:cubicBezTo>
                <a:lnTo>
                  <a:pt x="1548" y="20343"/>
                </a:lnTo>
                <a:cubicBezTo>
                  <a:pt x="695" y="20343"/>
                  <a:pt x="0" y="19625"/>
                  <a:pt x="0" y="18731"/>
                </a:cubicBezTo>
                <a:lnTo>
                  <a:pt x="0" y="17108"/>
                </a:lnTo>
                <a:cubicBezTo>
                  <a:pt x="0" y="17087"/>
                  <a:pt x="10" y="17077"/>
                  <a:pt x="10" y="17056"/>
                </a:cubicBezTo>
                <a:lnTo>
                  <a:pt x="407" y="14633"/>
                </a:lnTo>
                <a:cubicBezTo>
                  <a:pt x="159" y="14342"/>
                  <a:pt x="0" y="13957"/>
                  <a:pt x="0" y="13541"/>
                </a:cubicBezTo>
                <a:lnTo>
                  <a:pt x="0" y="11919"/>
                </a:lnTo>
                <a:cubicBezTo>
                  <a:pt x="0" y="11908"/>
                  <a:pt x="10" y="11887"/>
                  <a:pt x="10" y="11877"/>
                </a:cubicBezTo>
                <a:lnTo>
                  <a:pt x="407" y="9443"/>
                </a:lnTo>
                <a:cubicBezTo>
                  <a:pt x="159" y="9152"/>
                  <a:pt x="0" y="8767"/>
                  <a:pt x="0" y="8351"/>
                </a:cubicBezTo>
                <a:lnTo>
                  <a:pt x="0" y="6729"/>
                </a:lnTo>
                <a:cubicBezTo>
                  <a:pt x="0" y="6718"/>
                  <a:pt x="10" y="6698"/>
                  <a:pt x="10" y="6687"/>
                </a:cubicBezTo>
                <a:lnTo>
                  <a:pt x="1548" y="811"/>
                </a:lnTo>
                <a:cubicBezTo>
                  <a:pt x="1597" y="364"/>
                  <a:pt x="2014" y="0"/>
                  <a:pt x="2490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A42CD79-BE5D-4433-91B0-3FD5EE009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52050"/>
              </p:ext>
            </p:extLst>
          </p:nvPr>
        </p:nvGraphicFramePr>
        <p:xfrm>
          <a:off x="841276" y="1602298"/>
          <a:ext cx="10467084" cy="5008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4854">
                  <a:extLst>
                    <a:ext uri="{9D8B030D-6E8A-4147-A177-3AD203B41FA5}">
                      <a16:colId xmlns:a16="http://schemas.microsoft.com/office/drawing/2014/main" val="3608338477"/>
                    </a:ext>
                  </a:extLst>
                </a:gridCol>
                <a:gridCol w="1354762">
                  <a:extLst>
                    <a:ext uri="{9D8B030D-6E8A-4147-A177-3AD203B41FA5}">
                      <a16:colId xmlns:a16="http://schemas.microsoft.com/office/drawing/2014/main" val="1891662963"/>
                    </a:ext>
                  </a:extLst>
                </a:gridCol>
                <a:gridCol w="1919282">
                  <a:extLst>
                    <a:ext uri="{9D8B030D-6E8A-4147-A177-3AD203B41FA5}">
                      <a16:colId xmlns:a16="http://schemas.microsoft.com/office/drawing/2014/main" val="4125476289"/>
                    </a:ext>
                  </a:extLst>
                </a:gridCol>
                <a:gridCol w="2206056">
                  <a:extLst>
                    <a:ext uri="{9D8B030D-6E8A-4147-A177-3AD203B41FA5}">
                      <a16:colId xmlns:a16="http://schemas.microsoft.com/office/drawing/2014/main" val="2645522015"/>
                    </a:ext>
                  </a:extLst>
                </a:gridCol>
                <a:gridCol w="2662130">
                  <a:extLst>
                    <a:ext uri="{9D8B030D-6E8A-4147-A177-3AD203B41FA5}">
                      <a16:colId xmlns:a16="http://schemas.microsoft.com/office/drawing/2014/main" val="2361959838"/>
                    </a:ext>
                  </a:extLst>
                </a:gridCol>
              </a:tblGrid>
              <a:tr h="554100">
                <a:tc>
                  <a:txBody>
                    <a:bodyPr/>
                    <a:lstStyle/>
                    <a:p>
                      <a:pPr indent="127000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effectLst/>
                        </a:rPr>
                        <a:t> </a:t>
                      </a:r>
                      <a:endParaRPr lang="zh-CN" sz="2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APM</a:t>
                      </a:r>
                      <a:endParaRPr lang="zh-CN" altLang="en-US" sz="21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推理时间</a:t>
                      </a: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卷积算子类型</a:t>
                      </a: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卷积算子并行度</a:t>
                      </a: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893798589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PG2L50H</a:t>
                      </a:r>
                      <a:endParaRPr lang="zh-CN" altLang="en-US" sz="21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</a:t>
                      </a: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75ms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16*2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extLst>
                  <a:ext uri="{0D108BD9-81ED-4DB2-BD59-A6C34878D82A}">
                    <a16:rowId xmlns:a16="http://schemas.microsoft.com/office/drawing/2014/main" val="3550299913"/>
                  </a:ext>
                </a:extLst>
              </a:tr>
              <a:tr h="5521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041057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PG2L100H</a:t>
                      </a:r>
                      <a:endParaRPr lang="zh-CN" altLang="en-US" sz="21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58.14ms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16*8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2464308879"/>
                  </a:ext>
                </a:extLst>
              </a:tr>
              <a:tr h="5521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16*2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472801841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PG2L200H</a:t>
                      </a:r>
                      <a:endParaRPr lang="zh-CN" altLang="en-US" sz="2100" b="1" kern="1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740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16.37ms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16*16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1087740848"/>
                  </a:ext>
                </a:extLst>
              </a:tr>
              <a:tr h="5521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16*8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2868253104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其它</a:t>
                      </a: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&gt;1300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9.17ms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16*16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1852753205"/>
                  </a:ext>
                </a:extLst>
              </a:tr>
              <a:tr h="58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16*16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65211016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B37F-3205-33BC-1842-F2DC098BF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FFB59351-A874-9C7F-E391-DB6F7B5EE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79D9A27C-3CAC-5BA0-12B5-8389FF419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AE657BDC-C5B3-5188-CE6A-521CA7B0410A}"/>
              </a:ext>
            </a:extLst>
          </p:cNvPr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详细指标表格</a:t>
            </a:r>
            <a:endParaRPr lang="zh-CN" dirty="0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71B975-E952-6C38-0514-937B3949C04B}"/>
              </a:ext>
            </a:extLst>
          </p:cNvPr>
          <p:cNvSpPr/>
          <p:nvPr/>
        </p:nvSpPr>
        <p:spPr>
          <a:xfrm>
            <a:off x="5058559" y="1260000"/>
            <a:ext cx="2097249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Shape 1645">
            <a:extLst>
              <a:ext uri="{FF2B5EF4-FFF2-40B4-BE49-F238E27FC236}">
                <a16:creationId xmlns:a16="http://schemas.microsoft.com/office/drawing/2014/main" id="{D10AA171-32E0-A35A-6431-DC1A3CE3AA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119709" y="4527979"/>
            <a:ext cx="326159" cy="310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0" h="21558" extrusionOk="0">
                <a:moveTo>
                  <a:pt x="2441" y="17336"/>
                </a:moveTo>
                <a:cubicBezTo>
                  <a:pt x="2748" y="17336"/>
                  <a:pt x="2997" y="17596"/>
                  <a:pt x="2997" y="17918"/>
                </a:cubicBezTo>
                <a:cubicBezTo>
                  <a:pt x="2997" y="18240"/>
                  <a:pt x="2748" y="18501"/>
                  <a:pt x="2441" y="18501"/>
                </a:cubicBezTo>
                <a:cubicBezTo>
                  <a:pt x="2135" y="18501"/>
                  <a:pt x="1886" y="18240"/>
                  <a:pt x="1886" y="17918"/>
                </a:cubicBezTo>
                <a:cubicBezTo>
                  <a:pt x="1886" y="17596"/>
                  <a:pt x="2135" y="17336"/>
                  <a:pt x="2441" y="17336"/>
                </a:cubicBezTo>
                <a:close/>
                <a:moveTo>
                  <a:pt x="2441" y="12146"/>
                </a:moveTo>
                <a:cubicBezTo>
                  <a:pt x="2748" y="12146"/>
                  <a:pt x="2997" y="12407"/>
                  <a:pt x="2997" y="12729"/>
                </a:cubicBezTo>
                <a:cubicBezTo>
                  <a:pt x="2997" y="13051"/>
                  <a:pt x="2748" y="13312"/>
                  <a:pt x="2441" y="13312"/>
                </a:cubicBezTo>
                <a:cubicBezTo>
                  <a:pt x="2135" y="13312"/>
                  <a:pt x="1886" y="13051"/>
                  <a:pt x="1886" y="12729"/>
                </a:cubicBezTo>
                <a:cubicBezTo>
                  <a:pt x="1886" y="12407"/>
                  <a:pt x="2135" y="12146"/>
                  <a:pt x="2441" y="12146"/>
                </a:cubicBezTo>
                <a:close/>
                <a:moveTo>
                  <a:pt x="15676" y="11128"/>
                </a:moveTo>
                <a:cubicBezTo>
                  <a:pt x="14436" y="10961"/>
                  <a:pt x="13503" y="11252"/>
                  <a:pt x="13096" y="12053"/>
                </a:cubicBezTo>
                <a:cubicBezTo>
                  <a:pt x="12690" y="12854"/>
                  <a:pt x="12660" y="13561"/>
                  <a:pt x="12690" y="13686"/>
                </a:cubicBezTo>
                <a:cubicBezTo>
                  <a:pt x="12719" y="13821"/>
                  <a:pt x="12858" y="14060"/>
                  <a:pt x="12858" y="14060"/>
                </a:cubicBezTo>
                <a:cubicBezTo>
                  <a:pt x="12858" y="14060"/>
                  <a:pt x="12233" y="15069"/>
                  <a:pt x="12273" y="15235"/>
                </a:cubicBezTo>
                <a:cubicBezTo>
                  <a:pt x="12312" y="15402"/>
                  <a:pt x="12739" y="15485"/>
                  <a:pt x="12739" y="15485"/>
                </a:cubicBezTo>
                <a:cubicBezTo>
                  <a:pt x="12739" y="15485"/>
                  <a:pt x="12779" y="15599"/>
                  <a:pt x="12699" y="15818"/>
                </a:cubicBezTo>
                <a:cubicBezTo>
                  <a:pt x="12620" y="16047"/>
                  <a:pt x="12848" y="16296"/>
                  <a:pt x="12908" y="16390"/>
                </a:cubicBezTo>
                <a:cubicBezTo>
                  <a:pt x="12977" y="16483"/>
                  <a:pt x="12819" y="16754"/>
                  <a:pt x="12868" y="16910"/>
                </a:cubicBezTo>
                <a:cubicBezTo>
                  <a:pt x="12928" y="17066"/>
                  <a:pt x="13186" y="17253"/>
                  <a:pt x="13483" y="17211"/>
                </a:cubicBezTo>
                <a:cubicBezTo>
                  <a:pt x="13771" y="17180"/>
                  <a:pt x="14158" y="17107"/>
                  <a:pt x="14287" y="17076"/>
                </a:cubicBezTo>
                <a:cubicBezTo>
                  <a:pt x="14585" y="17815"/>
                  <a:pt x="13870" y="18189"/>
                  <a:pt x="13870" y="18189"/>
                </a:cubicBezTo>
                <a:lnTo>
                  <a:pt x="17661" y="18189"/>
                </a:lnTo>
                <a:cubicBezTo>
                  <a:pt x="17661" y="18189"/>
                  <a:pt x="16559" y="17263"/>
                  <a:pt x="16579" y="16255"/>
                </a:cubicBezTo>
                <a:cubicBezTo>
                  <a:pt x="16589" y="15683"/>
                  <a:pt x="17661" y="14965"/>
                  <a:pt x="17651" y="13395"/>
                </a:cubicBezTo>
                <a:cubicBezTo>
                  <a:pt x="17651" y="12604"/>
                  <a:pt x="16917" y="11294"/>
                  <a:pt x="15676" y="11128"/>
                </a:cubicBezTo>
                <a:close/>
                <a:moveTo>
                  <a:pt x="13950" y="7737"/>
                </a:moveTo>
                <a:cubicBezTo>
                  <a:pt x="14108" y="7675"/>
                  <a:pt x="14277" y="7758"/>
                  <a:pt x="14337" y="7925"/>
                </a:cubicBezTo>
                <a:lnTo>
                  <a:pt x="14744" y="9079"/>
                </a:lnTo>
                <a:cubicBezTo>
                  <a:pt x="14803" y="9245"/>
                  <a:pt x="15150" y="9381"/>
                  <a:pt x="15269" y="9381"/>
                </a:cubicBezTo>
                <a:cubicBezTo>
                  <a:pt x="15379" y="9391"/>
                  <a:pt x="15527" y="9266"/>
                  <a:pt x="15597" y="9121"/>
                </a:cubicBezTo>
                <a:lnTo>
                  <a:pt x="16093" y="7987"/>
                </a:lnTo>
                <a:cubicBezTo>
                  <a:pt x="16153" y="7841"/>
                  <a:pt x="16331" y="7769"/>
                  <a:pt x="16480" y="7841"/>
                </a:cubicBezTo>
                <a:lnTo>
                  <a:pt x="18901" y="9006"/>
                </a:lnTo>
                <a:cubicBezTo>
                  <a:pt x="19050" y="9079"/>
                  <a:pt x="19119" y="9266"/>
                  <a:pt x="19050" y="9422"/>
                </a:cubicBezTo>
                <a:lnTo>
                  <a:pt x="18554" y="10545"/>
                </a:lnTo>
                <a:cubicBezTo>
                  <a:pt x="18484" y="10701"/>
                  <a:pt x="18643" y="11055"/>
                  <a:pt x="18713" y="11148"/>
                </a:cubicBezTo>
                <a:cubicBezTo>
                  <a:pt x="18792" y="11232"/>
                  <a:pt x="18971" y="11263"/>
                  <a:pt x="19129" y="11200"/>
                </a:cubicBezTo>
                <a:lnTo>
                  <a:pt x="20241" y="10774"/>
                </a:lnTo>
                <a:cubicBezTo>
                  <a:pt x="20389" y="10712"/>
                  <a:pt x="20568" y="10795"/>
                  <a:pt x="20618" y="10961"/>
                </a:cubicBezTo>
                <a:lnTo>
                  <a:pt x="21540" y="13582"/>
                </a:lnTo>
                <a:cubicBezTo>
                  <a:pt x="21600" y="13738"/>
                  <a:pt x="21521" y="13925"/>
                  <a:pt x="21372" y="13977"/>
                </a:cubicBezTo>
                <a:lnTo>
                  <a:pt x="20260" y="14414"/>
                </a:lnTo>
                <a:cubicBezTo>
                  <a:pt x="20102" y="14466"/>
                  <a:pt x="19983" y="14612"/>
                  <a:pt x="19983" y="14736"/>
                </a:cubicBezTo>
                <a:cubicBezTo>
                  <a:pt x="19983" y="14851"/>
                  <a:pt x="20082" y="15225"/>
                  <a:pt x="20231" y="15298"/>
                </a:cubicBezTo>
                <a:lnTo>
                  <a:pt x="21302" y="15818"/>
                </a:lnTo>
                <a:cubicBezTo>
                  <a:pt x="21451" y="15891"/>
                  <a:pt x="21511" y="16078"/>
                  <a:pt x="21441" y="16223"/>
                </a:cubicBezTo>
                <a:lnTo>
                  <a:pt x="20330" y="18771"/>
                </a:lnTo>
                <a:cubicBezTo>
                  <a:pt x="20260" y="18927"/>
                  <a:pt x="20082" y="18990"/>
                  <a:pt x="19933" y="18917"/>
                </a:cubicBezTo>
                <a:lnTo>
                  <a:pt x="18861" y="18397"/>
                </a:lnTo>
                <a:cubicBezTo>
                  <a:pt x="18713" y="18335"/>
                  <a:pt x="18375" y="18491"/>
                  <a:pt x="18286" y="18574"/>
                </a:cubicBezTo>
                <a:cubicBezTo>
                  <a:pt x="18206" y="18647"/>
                  <a:pt x="18177" y="18844"/>
                  <a:pt x="18236" y="19000"/>
                </a:cubicBezTo>
                <a:lnTo>
                  <a:pt x="18643" y="20165"/>
                </a:lnTo>
                <a:cubicBezTo>
                  <a:pt x="18703" y="20331"/>
                  <a:pt x="18623" y="20508"/>
                  <a:pt x="18474" y="20570"/>
                </a:cubicBezTo>
                <a:lnTo>
                  <a:pt x="15964" y="21538"/>
                </a:lnTo>
                <a:cubicBezTo>
                  <a:pt x="15815" y="21600"/>
                  <a:pt x="15637" y="21517"/>
                  <a:pt x="15587" y="21350"/>
                </a:cubicBezTo>
                <a:lnTo>
                  <a:pt x="15180" y="20186"/>
                </a:lnTo>
                <a:cubicBezTo>
                  <a:pt x="15121" y="20030"/>
                  <a:pt x="14773" y="19894"/>
                  <a:pt x="14664" y="19884"/>
                </a:cubicBezTo>
                <a:cubicBezTo>
                  <a:pt x="14545" y="19884"/>
                  <a:pt x="14396" y="19998"/>
                  <a:pt x="14327" y="20154"/>
                </a:cubicBezTo>
                <a:lnTo>
                  <a:pt x="13831" y="21278"/>
                </a:lnTo>
                <a:cubicBezTo>
                  <a:pt x="13771" y="21434"/>
                  <a:pt x="13592" y="21506"/>
                  <a:pt x="13444" y="21434"/>
                </a:cubicBezTo>
                <a:lnTo>
                  <a:pt x="11013" y="20258"/>
                </a:lnTo>
                <a:cubicBezTo>
                  <a:pt x="10874" y="20186"/>
                  <a:pt x="10804" y="19998"/>
                  <a:pt x="10874" y="19842"/>
                </a:cubicBezTo>
                <a:lnTo>
                  <a:pt x="11370" y="18730"/>
                </a:lnTo>
                <a:cubicBezTo>
                  <a:pt x="11439" y="18563"/>
                  <a:pt x="11281" y="18220"/>
                  <a:pt x="11211" y="18127"/>
                </a:cubicBezTo>
                <a:cubicBezTo>
                  <a:pt x="11132" y="18033"/>
                  <a:pt x="10943" y="18012"/>
                  <a:pt x="10794" y="18064"/>
                </a:cubicBezTo>
                <a:lnTo>
                  <a:pt x="9683" y="18501"/>
                </a:lnTo>
                <a:cubicBezTo>
                  <a:pt x="9534" y="18563"/>
                  <a:pt x="9356" y="18470"/>
                  <a:pt x="9306" y="18314"/>
                </a:cubicBezTo>
                <a:lnTo>
                  <a:pt x="8373" y="15693"/>
                </a:lnTo>
                <a:cubicBezTo>
                  <a:pt x="8324" y="15527"/>
                  <a:pt x="8403" y="15350"/>
                  <a:pt x="8552" y="15287"/>
                </a:cubicBezTo>
                <a:lnTo>
                  <a:pt x="9663" y="14861"/>
                </a:lnTo>
                <a:cubicBezTo>
                  <a:pt x="9812" y="14799"/>
                  <a:pt x="9941" y="14435"/>
                  <a:pt x="9951" y="14320"/>
                </a:cubicBezTo>
                <a:cubicBezTo>
                  <a:pt x="9961" y="14206"/>
                  <a:pt x="9842" y="14040"/>
                  <a:pt x="9693" y="13977"/>
                </a:cubicBezTo>
                <a:lnTo>
                  <a:pt x="8621" y="13457"/>
                </a:lnTo>
                <a:cubicBezTo>
                  <a:pt x="8472" y="13384"/>
                  <a:pt x="8413" y="13197"/>
                  <a:pt x="8482" y="13041"/>
                </a:cubicBezTo>
                <a:lnTo>
                  <a:pt x="9594" y="10504"/>
                </a:lnTo>
                <a:cubicBezTo>
                  <a:pt x="9663" y="10348"/>
                  <a:pt x="9842" y="10285"/>
                  <a:pt x="9991" y="10348"/>
                </a:cubicBezTo>
                <a:lnTo>
                  <a:pt x="11062" y="10868"/>
                </a:lnTo>
                <a:cubicBezTo>
                  <a:pt x="11211" y="10940"/>
                  <a:pt x="11548" y="10774"/>
                  <a:pt x="11628" y="10701"/>
                </a:cubicBezTo>
                <a:cubicBezTo>
                  <a:pt x="11717" y="10628"/>
                  <a:pt x="11737" y="10431"/>
                  <a:pt x="11687" y="10275"/>
                </a:cubicBezTo>
                <a:lnTo>
                  <a:pt x="11271" y="9110"/>
                </a:lnTo>
                <a:cubicBezTo>
                  <a:pt x="11221" y="8944"/>
                  <a:pt x="11300" y="8767"/>
                  <a:pt x="11449" y="8705"/>
                </a:cubicBezTo>
                <a:close/>
                <a:moveTo>
                  <a:pt x="2441" y="6957"/>
                </a:moveTo>
                <a:cubicBezTo>
                  <a:pt x="2748" y="6957"/>
                  <a:pt x="2997" y="7218"/>
                  <a:pt x="2997" y="7540"/>
                </a:cubicBezTo>
                <a:cubicBezTo>
                  <a:pt x="2997" y="7862"/>
                  <a:pt x="2748" y="8123"/>
                  <a:pt x="2441" y="8123"/>
                </a:cubicBezTo>
                <a:cubicBezTo>
                  <a:pt x="2135" y="8123"/>
                  <a:pt x="1886" y="7862"/>
                  <a:pt x="1886" y="7540"/>
                </a:cubicBezTo>
                <a:cubicBezTo>
                  <a:pt x="1886" y="7218"/>
                  <a:pt x="2135" y="6957"/>
                  <a:pt x="2441" y="6957"/>
                </a:cubicBezTo>
                <a:close/>
                <a:moveTo>
                  <a:pt x="2490" y="0"/>
                </a:moveTo>
                <a:lnTo>
                  <a:pt x="14496" y="0"/>
                </a:lnTo>
                <a:cubicBezTo>
                  <a:pt x="14962" y="0"/>
                  <a:pt x="15389" y="364"/>
                  <a:pt x="15439" y="811"/>
                </a:cubicBezTo>
                <a:lnTo>
                  <a:pt x="16977" y="6687"/>
                </a:lnTo>
                <a:cubicBezTo>
                  <a:pt x="16977" y="6698"/>
                  <a:pt x="16987" y="6718"/>
                  <a:pt x="16987" y="6729"/>
                </a:cubicBezTo>
                <a:lnTo>
                  <a:pt x="16987" y="7134"/>
                </a:lnTo>
                <a:lnTo>
                  <a:pt x="16828" y="7051"/>
                </a:lnTo>
                <a:cubicBezTo>
                  <a:pt x="16629" y="6958"/>
                  <a:pt x="16421" y="6937"/>
                  <a:pt x="16213" y="6968"/>
                </a:cubicBezTo>
                <a:lnTo>
                  <a:pt x="16213" y="6729"/>
                </a:lnTo>
                <a:cubicBezTo>
                  <a:pt x="16213" y="6292"/>
                  <a:pt x="15865" y="5928"/>
                  <a:pt x="15439" y="5928"/>
                </a:cubicBezTo>
                <a:lnTo>
                  <a:pt x="1548" y="5928"/>
                </a:lnTo>
                <a:cubicBezTo>
                  <a:pt x="1121" y="5928"/>
                  <a:pt x="774" y="6292"/>
                  <a:pt x="774" y="6729"/>
                </a:cubicBezTo>
                <a:lnTo>
                  <a:pt x="774" y="8351"/>
                </a:lnTo>
                <a:cubicBezTo>
                  <a:pt x="774" y="8799"/>
                  <a:pt x="1121" y="9163"/>
                  <a:pt x="1548" y="9163"/>
                </a:cubicBezTo>
                <a:lnTo>
                  <a:pt x="10448" y="9163"/>
                </a:lnTo>
                <a:cubicBezTo>
                  <a:pt x="10458" y="9246"/>
                  <a:pt x="10478" y="9329"/>
                  <a:pt x="10498" y="9402"/>
                </a:cubicBezTo>
                <a:lnTo>
                  <a:pt x="10607" y="9693"/>
                </a:lnTo>
                <a:lnTo>
                  <a:pt x="10329" y="9568"/>
                </a:lnTo>
                <a:cubicBezTo>
                  <a:pt x="9783" y="9308"/>
                  <a:pt x="9099" y="9579"/>
                  <a:pt x="8850" y="10140"/>
                </a:cubicBezTo>
                <a:lnTo>
                  <a:pt x="8424" y="11107"/>
                </a:lnTo>
                <a:lnTo>
                  <a:pt x="1548" y="11107"/>
                </a:lnTo>
                <a:cubicBezTo>
                  <a:pt x="1121" y="11107"/>
                  <a:pt x="774" y="11471"/>
                  <a:pt x="774" y="11919"/>
                </a:cubicBezTo>
                <a:lnTo>
                  <a:pt x="774" y="13541"/>
                </a:lnTo>
                <a:cubicBezTo>
                  <a:pt x="774" y="13988"/>
                  <a:pt x="1121" y="14352"/>
                  <a:pt x="1548" y="14352"/>
                </a:cubicBezTo>
                <a:lnTo>
                  <a:pt x="8503" y="14352"/>
                </a:lnTo>
                <a:lnTo>
                  <a:pt x="8553" y="14373"/>
                </a:lnTo>
                <a:lnTo>
                  <a:pt x="8265" y="14477"/>
                </a:lnTo>
                <a:cubicBezTo>
                  <a:pt x="7700" y="14706"/>
                  <a:pt x="7402" y="15371"/>
                  <a:pt x="7600" y="15985"/>
                </a:cubicBezTo>
                <a:lnTo>
                  <a:pt x="7719" y="16297"/>
                </a:lnTo>
                <a:lnTo>
                  <a:pt x="1548" y="16297"/>
                </a:lnTo>
                <a:cubicBezTo>
                  <a:pt x="1121" y="16297"/>
                  <a:pt x="774" y="16661"/>
                  <a:pt x="774" y="17108"/>
                </a:cubicBezTo>
                <a:lnTo>
                  <a:pt x="774" y="18731"/>
                </a:lnTo>
                <a:cubicBezTo>
                  <a:pt x="774" y="19178"/>
                  <a:pt x="1121" y="19542"/>
                  <a:pt x="1548" y="19542"/>
                </a:cubicBezTo>
                <a:lnTo>
                  <a:pt x="10111" y="19542"/>
                </a:lnTo>
                <a:cubicBezTo>
                  <a:pt x="10011" y="19791"/>
                  <a:pt x="10001" y="20072"/>
                  <a:pt x="10081" y="20343"/>
                </a:cubicBezTo>
                <a:lnTo>
                  <a:pt x="1548" y="20343"/>
                </a:lnTo>
                <a:cubicBezTo>
                  <a:pt x="695" y="20343"/>
                  <a:pt x="0" y="19625"/>
                  <a:pt x="0" y="18731"/>
                </a:cubicBezTo>
                <a:lnTo>
                  <a:pt x="0" y="17108"/>
                </a:lnTo>
                <a:cubicBezTo>
                  <a:pt x="0" y="17087"/>
                  <a:pt x="10" y="17077"/>
                  <a:pt x="10" y="17056"/>
                </a:cubicBezTo>
                <a:lnTo>
                  <a:pt x="407" y="14633"/>
                </a:lnTo>
                <a:cubicBezTo>
                  <a:pt x="159" y="14342"/>
                  <a:pt x="0" y="13957"/>
                  <a:pt x="0" y="13541"/>
                </a:cubicBezTo>
                <a:lnTo>
                  <a:pt x="0" y="11919"/>
                </a:lnTo>
                <a:cubicBezTo>
                  <a:pt x="0" y="11908"/>
                  <a:pt x="10" y="11887"/>
                  <a:pt x="10" y="11877"/>
                </a:cubicBezTo>
                <a:lnTo>
                  <a:pt x="407" y="9443"/>
                </a:lnTo>
                <a:cubicBezTo>
                  <a:pt x="159" y="9152"/>
                  <a:pt x="0" y="8767"/>
                  <a:pt x="0" y="8351"/>
                </a:cubicBezTo>
                <a:lnTo>
                  <a:pt x="0" y="6729"/>
                </a:lnTo>
                <a:cubicBezTo>
                  <a:pt x="0" y="6718"/>
                  <a:pt x="10" y="6698"/>
                  <a:pt x="10" y="6687"/>
                </a:cubicBezTo>
                <a:lnTo>
                  <a:pt x="1548" y="811"/>
                </a:lnTo>
                <a:cubicBezTo>
                  <a:pt x="1597" y="364"/>
                  <a:pt x="2014" y="0"/>
                  <a:pt x="2490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B8CE55-BD9C-117D-DD54-DA372C1B4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605" y="1567768"/>
            <a:ext cx="9479559" cy="52035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8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3265894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+mj-ea"/>
                <a:ea typeface="+mj-ea"/>
              </a:rPr>
              <a:t>价值成果</a:t>
            </a: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5646000" y="2186124"/>
            <a:ext cx="900000" cy="900000"/>
          </a:xfrm>
          <a:prstGeom prst="rect">
            <a:avLst/>
          </a:prstGeom>
          <a:solidFill>
            <a:srgbClr val="9545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2202E69-7C6D-C655-D80C-CE8B848EA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59332"/>
            <a:ext cx="5704514" cy="569866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2926D2C-AA05-3046-E255-AC2D3389B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514" y="0"/>
            <a:ext cx="6487486" cy="577376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6A5E26B-D832-B562-3E72-7B27EF2C0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2903" y="5782070"/>
            <a:ext cx="6358855" cy="10762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DCDB-9B19-49A2-EE57-93E127E3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D3CFE70D-D6F3-E245-2F82-38CCD305A5A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635" y="-635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F538A60A-F62A-E044-CD1D-69DF7F207E6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D3EE989D-480F-211F-181A-680FC8C0EBDA}"/>
              </a:ext>
            </a:extLst>
          </p:cNvPr>
          <p:cNvSpPr/>
          <p:nvPr/>
        </p:nvSpPr>
        <p:spPr>
          <a:xfrm>
            <a:off x="1022345" y="1084003"/>
            <a:ext cx="9955536" cy="608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即插即用，重构边缘</a:t>
            </a:r>
            <a:r>
              <a:rPr lang="en-US" altLang="zh-CN" dirty="0">
                <a:latin typeface="+mj-ea"/>
                <a:ea typeface="+mj-ea"/>
              </a:rPr>
              <a:t>AI</a:t>
            </a:r>
            <a:r>
              <a:rPr lang="zh-CN" altLang="en-US" dirty="0">
                <a:latin typeface="+mj-ea"/>
                <a:ea typeface="+mj-ea"/>
              </a:rPr>
              <a:t>算力基座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19C10E-3926-3DE6-F8E9-CAF412767196}"/>
              </a:ext>
            </a:extLst>
          </p:cNvPr>
          <p:cNvSpPr/>
          <p:nvPr/>
        </p:nvSpPr>
        <p:spPr>
          <a:xfrm>
            <a:off x="3525520" y="1643105"/>
            <a:ext cx="4968240" cy="96151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任意多边形: 形状 63">
            <a:extLst>
              <a:ext uri="{FF2B5EF4-FFF2-40B4-BE49-F238E27FC236}">
                <a16:creationId xmlns:a16="http://schemas.microsoft.com/office/drawing/2014/main" id="{642C9B82-7A2F-8700-B1B2-B3CCB6675B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20240" y="2371076"/>
            <a:ext cx="4627281" cy="38087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65" name="椭圆 13">
            <a:extLst>
              <a:ext uri="{FF2B5EF4-FFF2-40B4-BE49-F238E27FC236}">
                <a16:creationId xmlns:a16="http://schemas.microsoft.com/office/drawing/2014/main" id="{4C34E0A8-1FE6-49FF-BCC9-D16ED8E7606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480240" y="2623076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66" name="文本框 14">
            <a:extLst>
              <a:ext uri="{FF2B5EF4-FFF2-40B4-BE49-F238E27FC236}">
                <a16:creationId xmlns:a16="http://schemas.microsoft.com/office/drawing/2014/main" id="{AD872387-CA05-C8A2-EFF5-184E4DB879D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0239" y="2551076"/>
            <a:ext cx="3840252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统一算子架构，模型“零成本”迭代</a:t>
            </a:r>
          </a:p>
        </p:txBody>
      </p:sp>
      <p:sp>
        <p:nvSpPr>
          <p:cNvPr id="467" name="文本框 15">
            <a:extLst>
              <a:ext uri="{FF2B5EF4-FFF2-40B4-BE49-F238E27FC236}">
                <a16:creationId xmlns:a16="http://schemas.microsoft.com/office/drawing/2014/main" id="{82972792-0DCD-4E7F-E357-9D50772478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60240" y="3091076"/>
            <a:ext cx="3530675" cy="296273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sz="1400" dirty="0">
                <a:latin typeface="+mn-ea"/>
                <a:ea typeface="+mn-ea"/>
              </a:rPr>
              <a:t>将</a:t>
            </a:r>
            <a:r>
              <a:rPr lang="en-US" altLang="zh-CN" sz="1400" dirty="0">
                <a:latin typeface="+mn-ea"/>
                <a:ea typeface="+mn-ea"/>
              </a:rPr>
              <a:t>YOLOv5n</a:t>
            </a:r>
            <a:r>
              <a:rPr lang="zh-CN" altLang="en-US" sz="1400" dirty="0">
                <a:latin typeface="+mn-ea"/>
                <a:ea typeface="+mn-ea"/>
              </a:rPr>
              <a:t>计算流程解构为底层算子（卷积、池化、上采样、拼接等），通过三级控制模块统一调配数据流向。</a:t>
            </a:r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仅需修改调度配置文件，即可适配</a:t>
            </a:r>
            <a:r>
              <a:rPr lang="en-US" altLang="zh-CN" sz="1400" dirty="0" err="1">
                <a:latin typeface="+mn-ea"/>
                <a:ea typeface="+mn-ea"/>
              </a:rPr>
              <a:t>ResNet</a:t>
            </a:r>
            <a:r>
              <a:rPr lang="zh-CN" altLang="en-US" sz="1400" dirty="0">
                <a:latin typeface="+mn-ea"/>
                <a:ea typeface="+mn-ea"/>
              </a:rPr>
              <a:t>、</a:t>
            </a:r>
            <a:r>
              <a:rPr lang="en-US" altLang="zh-CN" sz="1400" dirty="0" err="1">
                <a:latin typeface="+mn-ea"/>
                <a:ea typeface="+mn-ea"/>
              </a:rPr>
              <a:t>MobileNet</a:t>
            </a:r>
            <a:r>
              <a:rPr lang="zh-CN" altLang="en-US" sz="1400" dirty="0">
                <a:latin typeface="+mn-ea"/>
                <a:ea typeface="+mn-ea"/>
              </a:rPr>
              <a:t>等任意由同类算子组成的神经网络，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无需重写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RTL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代码</a:t>
            </a:r>
            <a:r>
              <a:rPr lang="zh-CN" altLang="en-US" sz="1400" dirty="0">
                <a:latin typeface="+mn-ea"/>
                <a:ea typeface="+mn-ea"/>
              </a:rPr>
              <a:t>。</a:t>
            </a:r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当</a:t>
            </a:r>
            <a:r>
              <a:rPr lang="en-US" altLang="zh-CN" sz="1400" dirty="0">
                <a:latin typeface="+mn-ea"/>
                <a:ea typeface="+mn-ea"/>
              </a:rPr>
              <a:t>YOLOv10</a:t>
            </a:r>
            <a:r>
              <a:rPr lang="zh-CN" altLang="en-US" sz="1400" dirty="0">
                <a:latin typeface="+mn-ea"/>
                <a:ea typeface="+mn-ea"/>
              </a:rPr>
              <a:t>或更新轻量级模型问世时，硬件架构无需改版，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彻底消除算法迭代带来的高昂流片与开发成本</a:t>
            </a:r>
            <a:r>
              <a:rPr lang="zh-CN" altLang="en-US" sz="1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" name="任意多边形: 形状 63">
            <a:extLst>
              <a:ext uri="{FF2B5EF4-FFF2-40B4-BE49-F238E27FC236}">
                <a16:creationId xmlns:a16="http://schemas.microsoft.com/office/drawing/2014/main" id="{6975AD17-57F9-93D0-1CDD-89680E7B7D8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668001" y="2371076"/>
            <a:ext cx="4627281" cy="38087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" name="椭圆 13">
            <a:extLst>
              <a:ext uri="{FF2B5EF4-FFF2-40B4-BE49-F238E27FC236}">
                <a16:creationId xmlns:a16="http://schemas.microsoft.com/office/drawing/2014/main" id="{D9C16A17-BF95-DDD6-21E2-B44C4EF7E9B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028001" y="2623077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5FE6D6B3-CF5A-664D-AD1C-2C7BBF99FA1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388001" y="2551077"/>
            <a:ext cx="3620360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纯</a:t>
            </a:r>
            <a:r>
              <a:rPr lang="en-US" altLang="zh-CN" dirty="0">
                <a:latin typeface="+mj-ea"/>
                <a:ea typeface="+mj-ea"/>
              </a:rPr>
              <a:t>RTL</a:t>
            </a:r>
            <a:r>
              <a:rPr lang="zh-CN" altLang="en-US" dirty="0">
                <a:latin typeface="+mj-ea"/>
                <a:ea typeface="+mj-ea"/>
              </a:rPr>
              <a:t>设计，全系列</a:t>
            </a:r>
            <a:r>
              <a:rPr lang="en-US" altLang="zh-CN" dirty="0">
                <a:latin typeface="+mj-ea"/>
                <a:ea typeface="+mj-ea"/>
              </a:rPr>
              <a:t>FPGA</a:t>
            </a:r>
            <a:r>
              <a:rPr lang="zh-CN" altLang="en-US" dirty="0">
                <a:latin typeface="+mj-ea"/>
                <a:ea typeface="+mj-ea"/>
              </a:rPr>
              <a:t>即插即用</a:t>
            </a:r>
          </a:p>
        </p:txBody>
      </p:sp>
      <p:sp>
        <p:nvSpPr>
          <p:cNvPr id="6" name="文本框 15">
            <a:extLst>
              <a:ext uri="{FF2B5EF4-FFF2-40B4-BE49-F238E27FC236}">
                <a16:creationId xmlns:a16="http://schemas.microsoft.com/office/drawing/2014/main" id="{D79259BD-6197-6547-2B22-652978B689B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208001" y="3091077"/>
            <a:ext cx="3530675" cy="296273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sz="1400" dirty="0">
                <a:latin typeface="+mn-ea"/>
                <a:ea typeface="+mn-ea"/>
              </a:rPr>
              <a:t>一套代码完美适配紫光同创</a:t>
            </a:r>
            <a:r>
              <a:rPr lang="en-US" altLang="zh-CN" sz="1400" dirty="0">
                <a:latin typeface="+mn-ea"/>
                <a:ea typeface="+mn-ea"/>
              </a:rPr>
              <a:t>PG2L50H / 100H / 200H</a:t>
            </a:r>
            <a:r>
              <a:rPr lang="zh-CN" altLang="en-US" sz="1400" dirty="0">
                <a:latin typeface="+mn-ea"/>
                <a:ea typeface="+mn-ea"/>
              </a:rPr>
              <a:t>全系列器件，逻辑资源占用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降低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40%</a:t>
            </a:r>
            <a:r>
              <a:rPr lang="zh-CN" altLang="en-US" sz="1400" dirty="0">
                <a:latin typeface="+mn-ea"/>
                <a:ea typeface="+mn-ea"/>
              </a:rPr>
              <a:t>。</a:t>
            </a:r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客户可根据算力需求灵活选型（实测推理延迟从</a:t>
            </a:r>
            <a:r>
              <a:rPr lang="en-US" altLang="zh-CN" sz="1400" dirty="0">
                <a:latin typeface="+mn-ea"/>
                <a:ea typeface="+mn-ea"/>
              </a:rPr>
              <a:t>75ms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至极速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9.17ms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线性可调</a:t>
            </a:r>
            <a:r>
              <a:rPr lang="zh-CN" altLang="en-US" sz="1400" dirty="0">
                <a:latin typeface="+mn-ea"/>
                <a:ea typeface="+mn-ea"/>
              </a:rPr>
              <a:t>），硬件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（物料清单）成本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直降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35%</a:t>
            </a:r>
            <a:r>
              <a:rPr lang="zh-CN" altLang="en-US" sz="1400" dirty="0">
                <a:latin typeface="+mn-ea"/>
                <a:ea typeface="+mn-ea"/>
              </a:rPr>
              <a:t>。</a:t>
            </a:r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驱动层与</a:t>
            </a:r>
            <a:r>
              <a:rPr lang="en-US" altLang="zh-CN" sz="1400" dirty="0">
                <a:latin typeface="+mn-ea"/>
                <a:ea typeface="+mn-ea"/>
              </a:rPr>
              <a:t>DMA</a:t>
            </a:r>
            <a:r>
              <a:rPr lang="zh-CN" altLang="en-US" sz="1400" dirty="0">
                <a:latin typeface="+mn-ea"/>
                <a:ea typeface="+mn-ea"/>
              </a:rPr>
              <a:t>引擎模块化封装，客户无需关心底层</a:t>
            </a:r>
            <a:r>
              <a:rPr lang="en-US" altLang="zh-CN" sz="1400" dirty="0">
                <a:latin typeface="+mn-ea"/>
                <a:ea typeface="+mn-ea"/>
              </a:rPr>
              <a:t>PCIe</a:t>
            </a:r>
            <a:r>
              <a:rPr lang="zh-CN" altLang="en-US" sz="1400" dirty="0">
                <a:latin typeface="+mn-ea"/>
                <a:ea typeface="+mn-ea"/>
              </a:rPr>
              <a:t>时序与</a:t>
            </a:r>
            <a:r>
              <a:rPr lang="en-US" altLang="zh-CN" sz="1400" dirty="0">
                <a:latin typeface="+mn-ea"/>
                <a:ea typeface="+mn-ea"/>
              </a:rPr>
              <a:t>DDR</a:t>
            </a:r>
            <a:r>
              <a:rPr lang="zh-CN" altLang="en-US" sz="1400" dirty="0">
                <a:latin typeface="+mn-ea"/>
                <a:ea typeface="+mn-ea"/>
              </a:rPr>
              <a:t>调度，真正做到“硬件黑盒化，即插即用”。</a:t>
            </a:r>
          </a:p>
        </p:txBody>
      </p:sp>
      <p:sp>
        <p:nvSpPr>
          <p:cNvPr id="22" name="椭圆 13">
            <a:extLst>
              <a:ext uri="{FF2B5EF4-FFF2-40B4-BE49-F238E27FC236}">
                <a16:creationId xmlns:a16="http://schemas.microsoft.com/office/drawing/2014/main" id="{9B646151-0C14-4B49-B1C8-002CE9FA3F8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107201" y="3300092"/>
            <a:ext cx="100800" cy="100800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3" name="椭圆 13">
            <a:extLst>
              <a:ext uri="{FF2B5EF4-FFF2-40B4-BE49-F238E27FC236}">
                <a16:creationId xmlns:a16="http://schemas.microsoft.com/office/drawing/2014/main" id="{C4DAEADA-359E-487E-86FA-B71D231CB1D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107201" y="4212712"/>
            <a:ext cx="100800" cy="100800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4" name="椭圆 13">
            <a:extLst>
              <a:ext uri="{FF2B5EF4-FFF2-40B4-BE49-F238E27FC236}">
                <a16:creationId xmlns:a16="http://schemas.microsoft.com/office/drawing/2014/main" id="{93EA38B5-A82F-49F5-B0D3-E49711F1E81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107201" y="5171083"/>
            <a:ext cx="100800" cy="100800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5" name="椭圆 13">
            <a:extLst>
              <a:ext uri="{FF2B5EF4-FFF2-40B4-BE49-F238E27FC236}">
                <a16:creationId xmlns:a16="http://schemas.microsoft.com/office/drawing/2014/main" id="{DE2B1B99-0FE2-4105-B667-571B2B02FDF5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558400" y="3249692"/>
            <a:ext cx="100800" cy="100800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6" name="椭圆 13">
            <a:extLst>
              <a:ext uri="{FF2B5EF4-FFF2-40B4-BE49-F238E27FC236}">
                <a16:creationId xmlns:a16="http://schemas.microsoft.com/office/drawing/2014/main" id="{5F52F204-AB49-4600-B839-911F0B85AB6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558400" y="4275465"/>
            <a:ext cx="100800" cy="100800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7" name="椭圆 13">
            <a:extLst>
              <a:ext uri="{FF2B5EF4-FFF2-40B4-BE49-F238E27FC236}">
                <a16:creationId xmlns:a16="http://schemas.microsoft.com/office/drawing/2014/main" id="{38F30A03-403E-41F5-BEA0-732C5C06A6C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567387" y="5221483"/>
            <a:ext cx="100800" cy="100800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6674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11B52-6800-060A-AAF2-2753C266A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9A39DA65-0D5B-F217-09F3-3DB88087F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279D41C2-7C06-318A-A3DB-676778EE3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06F6AF1-A02C-EAEA-CC89-2B2E36DECA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89" y="994661"/>
            <a:ext cx="4077374" cy="586333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9CCFE7F-DC3D-6271-36E3-64CDC05AF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957" y="817795"/>
            <a:ext cx="4200332" cy="60402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5714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主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1" y="-72000"/>
            <a:ext cx="10369018" cy="5832000"/>
          </a:xfrm>
          <a:prstGeom prst="rect">
            <a:avLst/>
          </a:prstGeom>
        </p:spPr>
      </p:pic>
      <p:pic>
        <p:nvPicPr>
          <p:cNvPr id="2" name="图片 1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206" y="180000"/>
            <a:ext cx="3743588" cy="23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96990" y="3075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76600" y="3960000"/>
            <a:ext cx="6172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中国集成电路未来之星从这里起步！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91778109813305,&quot;left&quot;:623.6220703125,&quot;top&quot;:198.42520141601557,&quot;width&quot;:232.13936767578124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91778109813305,&quot;left&quot;:623.6220703125,&quot;top&quot;:198.42520141601557,&quot;width&quot;:232.13936767578124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1551</Words>
  <Application>Microsoft Office PowerPoint</Application>
  <PresentationFormat>宽屏</PresentationFormat>
  <Paragraphs>127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微软雅黑</vt:lpstr>
      <vt:lpstr>Alimama ShuHeiTi Bold</vt:lpstr>
      <vt:lpstr>Wingdings</vt:lpstr>
      <vt:lpstr>HarmonyOS Sans SC Black</vt:lpstr>
      <vt:lpstr>HarmonyOS Sans SC Medium</vt:lpstr>
      <vt:lpstr>Calibri</vt:lpstr>
      <vt:lpstr>Arial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邱剑楠</dc:creator>
  <cp:lastModifiedBy>鑫 徐</cp:lastModifiedBy>
  <cp:revision>206</cp:revision>
  <dcterms:created xsi:type="dcterms:W3CDTF">2026-04-10T06:20:54Z</dcterms:created>
  <dcterms:modified xsi:type="dcterms:W3CDTF">2026-08-19T11:12:20Z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F6BD25751A7C48EDB1764C448974A7E0_11</vt:lpwstr>
  </property>
</Properties>
</file>